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7" r:id="rId2"/>
    <p:sldId id="278" r:id="rId3"/>
    <p:sldId id="257" r:id="rId4"/>
    <p:sldId id="258" r:id="rId5"/>
    <p:sldId id="259" r:id="rId6"/>
    <p:sldId id="261" r:id="rId7"/>
    <p:sldId id="262" r:id="rId8"/>
    <p:sldId id="269" r:id="rId9"/>
    <p:sldId id="263" r:id="rId10"/>
    <p:sldId id="270" r:id="rId11"/>
    <p:sldId id="271" r:id="rId12"/>
    <p:sldId id="272" r:id="rId13"/>
    <p:sldId id="273" r:id="rId14"/>
    <p:sldId id="264" r:id="rId15"/>
    <p:sldId id="266" r:id="rId16"/>
    <p:sldId id="290" r:id="rId17"/>
    <p:sldId id="291" r:id="rId18"/>
    <p:sldId id="292" r:id="rId19"/>
    <p:sldId id="293" r:id="rId20"/>
    <p:sldId id="295" r:id="rId21"/>
    <p:sldId id="296" r:id="rId22"/>
    <p:sldId id="275" r:id="rId23"/>
    <p:sldId id="28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horzBarState="maximized">
    <p:restoredLeft sz="21324" autoAdjust="0"/>
    <p:restoredTop sz="94660"/>
  </p:normalViewPr>
  <p:slideViewPr>
    <p:cSldViewPr snapToGrid="0">
      <p:cViewPr varScale="1">
        <p:scale>
          <a:sx n="72" d="100"/>
          <a:sy n="72" d="100"/>
        </p:scale>
        <p:origin x="-162"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pPr/>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3/31/2026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7" descr="C:\Users\SVEC\Desktop\Technology.jpg"/>
          <p:cNvPicPr>
            <a:picLocks noChangeAspect="1" noChangeArrowheads="1"/>
          </p:cNvPicPr>
          <p:nvPr/>
        </p:nvPicPr>
        <p:blipFill>
          <a:blip r:embed="rId2"/>
          <a:srcRect/>
          <a:stretch>
            <a:fillRect/>
          </a:stretch>
        </p:blipFill>
        <p:spPr bwMode="auto">
          <a:xfrm>
            <a:off x="-152400" y="20320"/>
            <a:ext cx="12496800" cy="6858000"/>
          </a:xfrm>
          <a:prstGeom prst="rect">
            <a:avLst/>
          </a:prstGeom>
          <a:noFill/>
          <a:ln w="9525">
            <a:noFill/>
            <a:miter lim="800000"/>
            <a:headEnd/>
            <a:tailEnd/>
          </a:ln>
        </p:spPr>
      </p:pic>
      <p:sp>
        <p:nvSpPr>
          <p:cNvPr id="5" name="Rectangle 4"/>
          <p:cNvSpPr/>
          <p:nvPr/>
        </p:nvSpPr>
        <p:spPr>
          <a:xfrm>
            <a:off x="5148560" y="2335237"/>
            <a:ext cx="3249851" cy="369332"/>
          </a:xfrm>
          <a:prstGeom prst="rect">
            <a:avLst/>
          </a:prstGeom>
        </p:spPr>
        <p:txBody>
          <a:bodyPr wrap="square">
            <a:spAutoFit/>
          </a:bodyPr>
          <a:lstStyle/>
          <a:p>
            <a:r>
              <a:rPr lang="en-US" b="1" dirty="0">
                <a:solidFill>
                  <a:srgbClr val="0070C0"/>
                </a:solidFill>
                <a:latin typeface="Calisto MT" pitchFamily="18" charset="0"/>
              </a:rPr>
              <a:t>Major Project Review-II</a:t>
            </a:r>
            <a:endParaRPr lang="en-US" dirty="0"/>
          </a:p>
        </p:txBody>
      </p:sp>
      <p:sp>
        <p:nvSpPr>
          <p:cNvPr id="6" name="Rounded Rectangle 5"/>
          <p:cNvSpPr/>
          <p:nvPr/>
        </p:nvSpPr>
        <p:spPr>
          <a:xfrm>
            <a:off x="1117600" y="2895600"/>
            <a:ext cx="10160000" cy="990600"/>
          </a:xfrm>
          <a:prstGeom prst="roundRect">
            <a:avLst/>
          </a:prstGeom>
          <a:solidFill>
            <a:srgbClr val="00B0F0"/>
          </a:solidFill>
        </p:spPr>
        <p:style>
          <a:lnRef idx="1">
            <a:schemeClr val="accent5"/>
          </a:lnRef>
          <a:fillRef idx="2">
            <a:schemeClr val="accent5"/>
          </a:fillRef>
          <a:effectRef idx="1">
            <a:schemeClr val="accent5"/>
          </a:effectRef>
          <a:fontRef idx="minor">
            <a:schemeClr val="dk1"/>
          </a:fontRef>
        </p:style>
        <p:txBody>
          <a:bodyPr anchor="ctr"/>
          <a:lstStyle/>
          <a:p>
            <a:pPr fontAlgn="auto">
              <a:lnSpc>
                <a:spcPct val="150000"/>
              </a:lnSpc>
              <a:spcBef>
                <a:spcPts val="0"/>
              </a:spcBef>
              <a:spcAft>
                <a:spcPts val="0"/>
              </a:spcAft>
              <a:defRPr/>
            </a:pPr>
            <a:r>
              <a:rPr lang="en-US" b="1" dirty="0">
                <a:latin typeface="Times New Roman" pitchFamily="18" charset="0"/>
                <a:cs typeface="Times New Roman" pitchFamily="18" charset="0"/>
              </a:rPr>
              <a:t>Batch No:  14</a:t>
            </a:r>
          </a:p>
          <a:p>
            <a:pPr fontAlgn="auto">
              <a:lnSpc>
                <a:spcPct val="150000"/>
              </a:lnSpc>
              <a:spcBef>
                <a:spcPts val="0"/>
              </a:spcBef>
              <a:spcAft>
                <a:spcPts val="0"/>
              </a:spcAft>
              <a:defRPr/>
            </a:pPr>
            <a:r>
              <a:rPr lang="en-US" b="1" dirty="0">
                <a:latin typeface="Times New Roman" pitchFamily="18" charset="0"/>
                <a:cs typeface="Times New Roman" pitchFamily="18" charset="0"/>
              </a:rPr>
              <a:t>Project Title: SMARTER NER</a:t>
            </a:r>
          </a:p>
        </p:txBody>
      </p:sp>
      <p:graphicFrame>
        <p:nvGraphicFramePr>
          <p:cNvPr id="8" name="Table 7"/>
          <p:cNvGraphicFramePr>
            <a:graphicFrameLocks noGrp="1"/>
          </p:cNvGraphicFramePr>
          <p:nvPr>
            <p:extLst>
              <p:ext uri="{D42A27DB-BD31-4B8C-83A1-F6EECF244321}">
                <p14:modId xmlns="" xmlns:p14="http://schemas.microsoft.com/office/powerpoint/2010/main" val="480564036"/>
              </p:ext>
            </p:extLst>
          </p:nvPr>
        </p:nvGraphicFramePr>
        <p:xfrm>
          <a:off x="914400" y="4276578"/>
          <a:ext cx="6604000" cy="2110155"/>
        </p:xfrm>
        <a:graphic>
          <a:graphicData uri="http://schemas.openxmlformats.org/drawingml/2006/table">
            <a:tbl>
              <a:tblPr firstRow="1" bandRow="1">
                <a:tableStyleId>{08FB837D-C827-4EFA-A057-4D05807E0F7C}</a:tableStyleId>
              </a:tblPr>
              <a:tblGrid>
                <a:gridCol w="974360">
                  <a:extLst>
                    <a:ext uri="{9D8B030D-6E8A-4147-A177-3AD203B41FA5}">
                      <a16:colId xmlns="" xmlns:a16="http://schemas.microsoft.com/office/drawing/2014/main" val="20000"/>
                    </a:ext>
                  </a:extLst>
                </a:gridCol>
                <a:gridCol w="2175240">
                  <a:extLst>
                    <a:ext uri="{9D8B030D-6E8A-4147-A177-3AD203B41FA5}">
                      <a16:colId xmlns="" xmlns:a16="http://schemas.microsoft.com/office/drawing/2014/main" val="20001"/>
                    </a:ext>
                  </a:extLst>
                </a:gridCol>
                <a:gridCol w="3454400">
                  <a:extLst>
                    <a:ext uri="{9D8B030D-6E8A-4147-A177-3AD203B41FA5}">
                      <a16:colId xmlns="" xmlns:a16="http://schemas.microsoft.com/office/drawing/2014/main" val="20002"/>
                    </a:ext>
                  </a:extLst>
                </a:gridCol>
              </a:tblGrid>
              <a:tr h="369404">
                <a:tc>
                  <a:txBody>
                    <a:bodyPr/>
                    <a:lstStyle/>
                    <a:p>
                      <a:pPr algn="ctr"/>
                      <a:r>
                        <a:rPr lang="en-US" sz="1400" dirty="0" err="1">
                          <a:solidFill>
                            <a:schemeClr val="tx1">
                              <a:lumMod val="95000"/>
                              <a:lumOff val="5000"/>
                            </a:schemeClr>
                          </a:solidFill>
                        </a:rPr>
                        <a:t>S.No</a:t>
                      </a:r>
                      <a:endParaRPr lang="en-US" sz="1400" i="0" dirty="0">
                        <a:solidFill>
                          <a:schemeClr val="tx1">
                            <a:lumMod val="95000"/>
                            <a:lumOff val="5000"/>
                          </a:schemeClr>
                        </a:solidFill>
                      </a:endParaRPr>
                    </a:p>
                  </a:txBody>
                  <a:tcPr marL="121920" marR="121920">
                    <a:solidFill>
                      <a:srgbClr val="00B0F0"/>
                    </a:solidFill>
                  </a:tcPr>
                </a:tc>
                <a:tc>
                  <a:txBody>
                    <a:bodyPr/>
                    <a:lstStyle/>
                    <a:p>
                      <a:pPr algn="ctr"/>
                      <a:r>
                        <a:rPr lang="en-US" sz="1400" dirty="0" err="1">
                          <a:solidFill>
                            <a:schemeClr val="tx1">
                              <a:lumMod val="95000"/>
                              <a:lumOff val="5000"/>
                            </a:schemeClr>
                          </a:solidFill>
                        </a:rPr>
                        <a:t>Regd.No</a:t>
                      </a:r>
                      <a:endParaRPr lang="en-US" sz="1400" i="0" dirty="0">
                        <a:solidFill>
                          <a:schemeClr val="tx1">
                            <a:lumMod val="95000"/>
                            <a:lumOff val="5000"/>
                          </a:schemeClr>
                        </a:solidFill>
                      </a:endParaRPr>
                    </a:p>
                  </a:txBody>
                  <a:tcPr marL="121920" marR="121920">
                    <a:solidFill>
                      <a:srgbClr val="00B0F0"/>
                    </a:solidFill>
                  </a:tcPr>
                </a:tc>
                <a:tc>
                  <a:txBody>
                    <a:bodyPr/>
                    <a:lstStyle/>
                    <a:p>
                      <a:pPr algn="ctr"/>
                      <a:endParaRPr lang="en-US" sz="1400" i="0" dirty="0">
                        <a:solidFill>
                          <a:schemeClr val="tx1">
                            <a:lumMod val="95000"/>
                            <a:lumOff val="5000"/>
                          </a:schemeClr>
                        </a:solidFill>
                      </a:endParaRPr>
                    </a:p>
                  </a:txBody>
                  <a:tcPr marL="121920" marR="121920">
                    <a:solidFill>
                      <a:srgbClr val="00B0F0"/>
                    </a:solidFill>
                  </a:tcPr>
                </a:tc>
                <a:extLst>
                  <a:ext uri="{0D108BD9-81ED-4DB2-BD59-A6C34878D82A}">
                    <a16:rowId xmlns="" xmlns:a16="http://schemas.microsoft.com/office/drawing/2014/main" val="10000"/>
                  </a:ext>
                </a:extLst>
              </a:tr>
              <a:tr h="369404">
                <a:tc>
                  <a:txBody>
                    <a:bodyPr/>
                    <a:lstStyle/>
                    <a:p>
                      <a:pPr algn="ctr"/>
                      <a:r>
                        <a:rPr lang="en-IN" sz="1400" dirty="0"/>
                        <a:t>1</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dirty="0"/>
                        <a:t>22A81A0609</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just"/>
                      <a:r>
                        <a:rPr lang="en-US" sz="1400" dirty="0"/>
                        <a:t>CH.YASASWI</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 xmlns:a16="http://schemas.microsoft.com/office/drawing/2014/main" val="10001"/>
                  </a:ext>
                </a:extLst>
              </a:tr>
              <a:tr h="369404">
                <a:tc>
                  <a:txBody>
                    <a:bodyPr/>
                    <a:lstStyle/>
                    <a:p>
                      <a:pPr algn="ctr"/>
                      <a:r>
                        <a:rPr lang="en-IN" sz="1400" dirty="0"/>
                        <a:t>2</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dirty="0"/>
                        <a:t>22A81A0644</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just"/>
                      <a:r>
                        <a:rPr lang="en-US" sz="1400" dirty="0"/>
                        <a:t>P.GEETHA</a:t>
                      </a:r>
                      <a:r>
                        <a:rPr lang="en-US" sz="1400" baseline="0" dirty="0"/>
                        <a:t> RANI SRI</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 xmlns:a16="http://schemas.microsoft.com/office/drawing/2014/main" val="10002"/>
                  </a:ext>
                </a:extLst>
              </a:tr>
              <a:tr h="333981">
                <a:tc>
                  <a:txBody>
                    <a:bodyPr/>
                    <a:lstStyle/>
                    <a:p>
                      <a:pPr algn="ctr"/>
                      <a:r>
                        <a:rPr lang="en-IN" sz="1400" dirty="0"/>
                        <a:t>3</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dirty="0"/>
                        <a:t>22A81A0616</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just"/>
                      <a:r>
                        <a:rPr lang="en-US" sz="1400" dirty="0"/>
                        <a:t>G.SRI</a:t>
                      </a:r>
                      <a:r>
                        <a:rPr lang="en-US" sz="1400" baseline="0" dirty="0"/>
                        <a:t> NAGA SIRISHA</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 xmlns:a16="http://schemas.microsoft.com/office/drawing/2014/main" val="10003"/>
                  </a:ext>
                </a:extLst>
              </a:tr>
              <a:tr h="333981">
                <a:tc>
                  <a:txBody>
                    <a:bodyPr/>
                    <a:lstStyle/>
                    <a:p>
                      <a:pPr algn="ctr"/>
                      <a:r>
                        <a:rPr lang="en-IN" sz="1400" dirty="0"/>
                        <a:t>4</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23A85A0605</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just"/>
                      <a:r>
                        <a:rPr lang="en-US" sz="1400" dirty="0"/>
                        <a:t>R.J.S.RAJU</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 xmlns:a16="http://schemas.microsoft.com/office/drawing/2014/main" val="10004"/>
                  </a:ext>
                </a:extLst>
              </a:tr>
              <a:tr h="333981">
                <a:tc>
                  <a:txBody>
                    <a:bodyPr/>
                    <a:lstStyle/>
                    <a:p>
                      <a:pPr algn="ctr"/>
                      <a:r>
                        <a:rPr lang="en-US" sz="1400" dirty="0"/>
                        <a:t>5</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dirty="0"/>
                        <a:t>22A81A0610</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just"/>
                      <a:r>
                        <a:rPr lang="en-US" sz="1400" dirty="0"/>
                        <a:t>C.NANDIRAJU</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 xmlns:a16="http://schemas.microsoft.com/office/drawing/2014/main" val="10005"/>
                  </a:ext>
                </a:extLst>
              </a:tr>
            </a:tbl>
          </a:graphicData>
        </a:graphic>
      </p:graphicFrame>
      <p:graphicFrame>
        <p:nvGraphicFramePr>
          <p:cNvPr id="9" name="Table 8"/>
          <p:cNvGraphicFramePr>
            <a:graphicFrameLocks noGrp="1"/>
          </p:cNvGraphicFramePr>
          <p:nvPr>
            <p:extLst>
              <p:ext uri="{D42A27DB-BD31-4B8C-83A1-F6EECF244321}">
                <p14:modId xmlns="" xmlns:p14="http://schemas.microsoft.com/office/powerpoint/2010/main" val="1824467014"/>
              </p:ext>
            </p:extLst>
          </p:nvPr>
        </p:nvGraphicFramePr>
        <p:xfrm>
          <a:off x="7924800" y="5029200"/>
          <a:ext cx="3149600" cy="1010920"/>
        </p:xfrm>
        <a:graphic>
          <a:graphicData uri="http://schemas.openxmlformats.org/drawingml/2006/table">
            <a:tbl>
              <a:tblPr firstRow="1" bandRow="1">
                <a:tableStyleId>{08FB837D-C827-4EFA-A057-4D05807E0F7C}</a:tableStyleId>
              </a:tblPr>
              <a:tblGrid>
                <a:gridCol w="3149600">
                  <a:extLst>
                    <a:ext uri="{9D8B030D-6E8A-4147-A177-3AD203B41FA5}">
                      <a16:colId xmlns="" xmlns:a16="http://schemas.microsoft.com/office/drawing/2014/main" val="20000"/>
                    </a:ext>
                  </a:extLst>
                </a:gridCol>
              </a:tblGrid>
              <a:tr h="370840">
                <a:tc>
                  <a:txBody>
                    <a:bodyPr/>
                    <a:lstStyle/>
                    <a:p>
                      <a:pPr algn="ctr"/>
                      <a:r>
                        <a:rPr lang="en-US" sz="1600" dirty="0">
                          <a:solidFill>
                            <a:schemeClr val="tx1">
                              <a:lumMod val="95000"/>
                              <a:lumOff val="5000"/>
                            </a:schemeClr>
                          </a:solidFill>
                        </a:rPr>
                        <a:t>Project Guide:</a:t>
                      </a:r>
                    </a:p>
                  </a:txBody>
                  <a:tcPr marL="121920" marR="121920">
                    <a:solidFill>
                      <a:srgbClr val="00B0F0"/>
                    </a:solidFill>
                  </a:tcPr>
                </a:tc>
                <a:extLst>
                  <a:ext uri="{0D108BD9-81ED-4DB2-BD59-A6C34878D82A}">
                    <a16:rowId xmlns="" xmlns:a16="http://schemas.microsoft.com/office/drawing/2014/main" val="10000"/>
                  </a:ext>
                </a:extLst>
              </a:tr>
              <a:tr h="370840">
                <a:tc>
                  <a:txBody>
                    <a:bodyPr/>
                    <a:lstStyle/>
                    <a:p>
                      <a:pPr algn="ctr"/>
                      <a:r>
                        <a:rPr lang="en-US" dirty="0"/>
                        <a:t>DR.V.VENKATESHWAR</a:t>
                      </a:r>
                      <a:r>
                        <a:rPr lang="en-US" baseline="0" dirty="0"/>
                        <a:t>A RAO</a:t>
                      </a:r>
                    </a:p>
                    <a:p>
                      <a:pPr algn="ctr"/>
                      <a:r>
                        <a:rPr lang="en-US" sz="1800" kern="1200" dirty="0">
                          <a:solidFill>
                            <a:schemeClr val="dk1"/>
                          </a:solidFill>
                          <a:latin typeface="+mn-lt"/>
                          <a:ea typeface="+mn-ea"/>
                          <a:cs typeface="+mn-cs"/>
                        </a:rPr>
                        <a:t>Professor, </a:t>
                      </a:r>
                      <a:r>
                        <a:rPr lang="en-US" sz="1800" kern="1200" dirty="0" err="1">
                          <a:solidFill>
                            <a:schemeClr val="dk1"/>
                          </a:solidFill>
                          <a:latin typeface="+mn-lt"/>
                          <a:ea typeface="+mn-ea"/>
                          <a:cs typeface="+mn-cs"/>
                        </a:rPr>
                        <a:t>Ph.D</a:t>
                      </a:r>
                      <a:endParaRPr lang="en-US" baseline="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t="100000" r="100000"/>
                      </a:path>
                      <a:tileRect l="-100000" b="-100000"/>
                    </a:gradFill>
                  </a:tcPr>
                </a:tc>
                <a:extLst>
                  <a:ext uri="{0D108BD9-81ED-4DB2-BD59-A6C34878D82A}">
                    <a16:rowId xmlns=""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99806" y="2854178"/>
            <a:ext cx="5092503" cy="923330"/>
          </a:xfrm>
          <a:prstGeom prst="rect">
            <a:avLst/>
          </a:prstGeom>
          <a:noFill/>
        </p:spPr>
        <p:txBody>
          <a:bodyPr wrap="square" rtlCol="0">
            <a:spAutoFit/>
          </a:bodyPr>
          <a:lstStyle/>
          <a:p>
            <a:pPr algn="just"/>
            <a:r>
              <a:rPr lang="en-US" sz="5400" dirty="0">
                <a:latin typeface="Times New Roman" pitchFamily="18" charset="0"/>
                <a:cs typeface="Times New Roman" pitchFamily="18" charset="0"/>
              </a:rPr>
              <a:t>SMARTER NER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498" y="443345"/>
            <a:ext cx="8596668" cy="665019"/>
          </a:xfrm>
        </p:spPr>
        <p:txBody>
          <a:bodyPr/>
          <a:lstStyle/>
          <a:p>
            <a:r>
              <a:rPr lang="en-US" dirty="0"/>
              <a:t> OUTLINE</a:t>
            </a:r>
          </a:p>
        </p:txBody>
      </p:sp>
      <p:sp>
        <p:nvSpPr>
          <p:cNvPr id="3" name="Content Placeholder 2"/>
          <p:cNvSpPr>
            <a:spLocks noGrp="1"/>
          </p:cNvSpPr>
          <p:nvPr>
            <p:ph idx="1"/>
          </p:nvPr>
        </p:nvSpPr>
        <p:spPr>
          <a:xfrm>
            <a:off x="566498" y="986444"/>
            <a:ext cx="9269306" cy="5296790"/>
          </a:xfrm>
        </p:spPr>
        <p:txBody>
          <a:bodyPr>
            <a:normAutofit/>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Literature Survey</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Proposed System</a:t>
            </a:r>
          </a:p>
          <a:p>
            <a:r>
              <a:rPr lang="en-US" dirty="0">
                <a:latin typeface="Times New Roman" pitchFamily="18" charset="0"/>
                <a:cs typeface="Times New Roman" pitchFamily="18" charset="0"/>
              </a:rPr>
              <a:t>Project Objective</a:t>
            </a:r>
          </a:p>
          <a:p>
            <a:r>
              <a:rPr lang="en-US" dirty="0">
                <a:latin typeface="Times New Roman" pitchFamily="18" charset="0"/>
                <a:cs typeface="Times New Roman" pitchFamily="18" charset="0"/>
              </a:rPr>
              <a:t>Project domain</a:t>
            </a:r>
          </a:p>
          <a:p>
            <a:r>
              <a:rPr lang="en-US" dirty="0">
                <a:latin typeface="Times New Roman" pitchFamily="18" charset="0"/>
                <a:cs typeface="Times New Roman" pitchFamily="18" charset="0"/>
              </a:rPr>
              <a:t>Requirement Analysis</a:t>
            </a:r>
          </a:p>
          <a:p>
            <a:r>
              <a:rPr lang="en-US" dirty="0">
                <a:latin typeface="Times New Roman" pitchFamily="18" charset="0"/>
                <a:cs typeface="Times New Roman" pitchFamily="18" charset="0"/>
              </a:rPr>
              <a:t>Architecture</a:t>
            </a:r>
          </a:p>
          <a:p>
            <a:r>
              <a:rPr lang="en-US" dirty="0">
                <a:latin typeface="Times New Roman" pitchFamily="18" charset="0"/>
                <a:cs typeface="Times New Roman" pitchFamily="18" charset="0"/>
              </a:rPr>
              <a:t>Methodology</a:t>
            </a:r>
          </a:p>
          <a:p>
            <a:r>
              <a:rPr lang="en-US" dirty="0">
                <a:latin typeface="Times New Roman" pitchFamily="18" charset="0"/>
                <a:cs typeface="Times New Roman" pitchFamily="18" charset="0"/>
              </a:rPr>
              <a:t>Implementation and Result Analysis</a:t>
            </a:r>
          </a:p>
          <a:p>
            <a:r>
              <a:rPr lang="en-US" dirty="0">
                <a:latin typeface="Times New Roman" pitchFamily="18" charset="0"/>
                <a:cs typeface="Times New Roman" pitchFamily="18" charset="0"/>
              </a:rPr>
              <a:t>Conclusion</a:t>
            </a:r>
          </a:p>
          <a:p>
            <a:r>
              <a:rPr lang="en-US" dirty="0">
                <a:latin typeface="Times New Roman" pitchFamily="18" charset="0"/>
                <a:cs typeface="Times New Roman" pitchFamily="18" charset="0"/>
              </a:rPr>
              <a:t>Project Plan</a:t>
            </a:r>
          </a:p>
        </p:txBody>
      </p:sp>
    </p:spTree>
    <p:extLst>
      <p:ext uri="{BB962C8B-B14F-4D97-AF65-F5344CB8AC3E}">
        <p14:creationId xmlns="" xmlns:p14="http://schemas.microsoft.com/office/powerpoint/2010/main" val="2573051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3130" y="636104"/>
            <a:ext cx="4638261" cy="940905"/>
          </a:xfrm>
        </p:spPr>
        <p:txBody>
          <a:bodyPr/>
          <a:lstStyle/>
          <a:p>
            <a:r>
              <a:rPr lang="en-US"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677334" y="883921"/>
            <a:ext cx="8916832" cy="5811520"/>
          </a:xfrm>
        </p:spPr>
        <p:txBody>
          <a:bodyPr>
            <a:normAutofit/>
          </a:bodyPr>
          <a:lstStyle/>
          <a:p>
            <a:pPr marL="0" indent="0" algn="just">
              <a:lnSpc>
                <a:spcPct val="150000"/>
              </a:lnSpc>
              <a:buNone/>
            </a:pPr>
            <a:endParaRPr lang="en-US" dirty="0">
              <a:latin typeface="Times New Roman" panose="02020603050405020304" pitchFamily="18" charset="0"/>
              <a:cs typeface="Times New Roman" pitchFamily="18" charset="0"/>
            </a:endParaRPr>
          </a:p>
          <a:p>
            <a:pPr algn="just">
              <a:lnSpc>
                <a:spcPct val="150000"/>
              </a:lnSpc>
              <a:buFont typeface="Wingdings" pitchFamily="2" charset="2"/>
              <a:buChar char="Ø"/>
            </a:pPr>
            <a:r>
              <a:rPr lang="en-US" dirty="0">
                <a:latin typeface="Times New Roman" panose="02020603050405020304" pitchFamily="18" charset="0"/>
                <a:cs typeface="Times New Roman" pitchFamily="18" charset="0"/>
              </a:rPr>
              <a:t>This project presents a Named Entity Recognition (NER) system for Telugu, a low-resource language. It uses a hybrid approach combining manual annotation and semi-supervised learning to improve performance. A </a:t>
            </a:r>
            <a:r>
              <a:rPr lang="en-US" dirty="0" err="1">
                <a:latin typeface="Times New Roman" panose="02020603050405020304" pitchFamily="18" charset="0"/>
                <a:cs typeface="Times New Roman" panose="02020603050405020304" pitchFamily="18" charset="0"/>
              </a:rPr>
              <a:t>spaCy</a:t>
            </a:r>
            <a:r>
              <a:rPr lang="en-US" dirty="0">
                <a:latin typeface="Times New Roman" panose="02020603050405020304" pitchFamily="18" charset="0"/>
                <a:cs typeface="Times New Roman" panose="02020603050405020304" pitchFamily="18" charset="0"/>
              </a:rPr>
              <a:t>-based model is trained on labeled data and further enhanced using pseudo-labeling, dataset refinement, and retraining. Explainable AI using LIME is integrated to provide transparency in predictions, and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-based web application enables users to input Telugu text and visualize entity recognition results. The system accurately identifies entities such as Person, Location, and Organization, providing an efficient, interpretable, and user-friendly solution.</a:t>
            </a:r>
          </a:p>
          <a:p>
            <a:pPr algn="just">
              <a:lnSpc>
                <a:spcPct val="150000"/>
              </a:lnSpc>
              <a:buFont typeface="Wingdings"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401419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6208" y="729673"/>
            <a:ext cx="6477793" cy="767823"/>
          </a:xfrm>
        </p:spPr>
        <p:txBody>
          <a:bodyPr/>
          <a:lstStyle/>
          <a:p>
            <a:r>
              <a:rPr lang="en-US" dirty="0">
                <a:latin typeface="Times New Roman" panose="02020603050405020304" pitchFamily="18" charset="0"/>
                <a:cs typeface="Times New Roman" panose="02020603050405020304" pitchFamily="18" charset="0"/>
              </a:rPr>
              <a:t>   INTRODUCTION</a:t>
            </a:r>
          </a:p>
        </p:txBody>
      </p:sp>
      <p:sp>
        <p:nvSpPr>
          <p:cNvPr id="3" name="Content Placeholder 2"/>
          <p:cNvSpPr>
            <a:spLocks noGrp="1"/>
          </p:cNvSpPr>
          <p:nvPr>
            <p:ph idx="1"/>
          </p:nvPr>
        </p:nvSpPr>
        <p:spPr>
          <a:xfrm>
            <a:off x="677334" y="1588654"/>
            <a:ext cx="8596668" cy="4452709"/>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Named Entity Recognition (NER) is a Natural Language Processing task used to identify entities such as persons, locations, and organizations from text. Telugu is a low-resource language with limited labeled data, making NER a challenging task. To address this, our project uses a semi-supervised learning approach that combines labeled and unlabeled data. A </a:t>
            </a:r>
            <a:r>
              <a:rPr lang="en-US" dirty="0" err="1">
                <a:latin typeface="Times New Roman" panose="02020603050405020304" pitchFamily="18" charset="0"/>
                <a:cs typeface="Times New Roman" panose="02020603050405020304" pitchFamily="18" charset="0"/>
              </a:rPr>
              <a:t>spaCy</a:t>
            </a:r>
            <a:r>
              <a:rPr lang="en-US" dirty="0">
                <a:latin typeface="Times New Roman" panose="02020603050405020304" pitchFamily="18" charset="0"/>
                <a:cs typeface="Times New Roman" panose="02020603050405020304" pitchFamily="18" charset="0"/>
              </a:rPr>
              <a:t>-based model is trained and used to generate pseudo-labels, which are further refined by filtering low-quality data and retraining to improve accuracy. Explainable AI using LIME is integrated to make predictions transparent, and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-based application provides a user-friendly interface for real-time analysis.</a:t>
            </a:r>
          </a:p>
        </p:txBody>
      </p:sp>
    </p:spTree>
    <p:extLst>
      <p:ext uri="{BB962C8B-B14F-4D97-AF65-F5344CB8AC3E}">
        <p14:creationId xmlns="" xmlns:p14="http://schemas.microsoft.com/office/powerpoint/2010/main" val="4227056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384312"/>
            <a:ext cx="6480312" cy="689114"/>
          </a:xfrm>
        </p:spPr>
        <p:txBody>
          <a:bodyPr>
            <a:normAutofit/>
          </a:bodyPr>
          <a:lstStyle/>
          <a:p>
            <a:r>
              <a:rPr lang="en-US" dirty="0"/>
              <a:t>LITERATURE SURVEY</a:t>
            </a:r>
          </a:p>
        </p:txBody>
      </p:sp>
      <p:graphicFrame>
        <p:nvGraphicFramePr>
          <p:cNvPr id="5" name="Content Placeholder 4">
            <a:extLst>
              <a:ext uri="{FF2B5EF4-FFF2-40B4-BE49-F238E27FC236}">
                <a16:creationId xmlns="" xmlns:a16="http://schemas.microsoft.com/office/drawing/2014/main" id="{76B010F2-5296-B354-D284-14CDABFE061C}"/>
              </a:ext>
            </a:extLst>
          </p:cNvPr>
          <p:cNvGraphicFramePr>
            <a:graphicFrameLocks noGrp="1"/>
          </p:cNvGraphicFramePr>
          <p:nvPr>
            <p:ph idx="1"/>
            <p:extLst>
              <p:ext uri="{D42A27DB-BD31-4B8C-83A1-F6EECF244321}">
                <p14:modId xmlns="" xmlns:p14="http://schemas.microsoft.com/office/powerpoint/2010/main" val="2162383705"/>
              </p:ext>
            </p:extLst>
          </p:nvPr>
        </p:nvGraphicFramePr>
        <p:xfrm>
          <a:off x="516835" y="1229360"/>
          <a:ext cx="10469218" cy="5292459"/>
        </p:xfrm>
        <a:graphic>
          <a:graphicData uri="http://schemas.openxmlformats.org/drawingml/2006/table">
            <a:tbl>
              <a:tblPr firstRow="1" bandRow="1">
                <a:tableStyleId>{5C22544A-7EE6-4342-B048-85BDC9FD1C3A}</a:tableStyleId>
              </a:tblPr>
              <a:tblGrid>
                <a:gridCol w="866716">
                  <a:extLst>
                    <a:ext uri="{9D8B030D-6E8A-4147-A177-3AD203B41FA5}">
                      <a16:colId xmlns="" xmlns:a16="http://schemas.microsoft.com/office/drawing/2014/main" val="3040453253"/>
                    </a:ext>
                  </a:extLst>
                </a:gridCol>
                <a:gridCol w="3180542">
                  <a:extLst>
                    <a:ext uri="{9D8B030D-6E8A-4147-A177-3AD203B41FA5}">
                      <a16:colId xmlns="" xmlns:a16="http://schemas.microsoft.com/office/drawing/2014/main" val="2882315167"/>
                    </a:ext>
                  </a:extLst>
                </a:gridCol>
                <a:gridCol w="3106707">
                  <a:extLst>
                    <a:ext uri="{9D8B030D-6E8A-4147-A177-3AD203B41FA5}">
                      <a16:colId xmlns="" xmlns:a16="http://schemas.microsoft.com/office/drawing/2014/main" val="4285163200"/>
                    </a:ext>
                  </a:extLst>
                </a:gridCol>
                <a:gridCol w="1540356">
                  <a:extLst>
                    <a:ext uri="{9D8B030D-6E8A-4147-A177-3AD203B41FA5}">
                      <a16:colId xmlns="" xmlns:a16="http://schemas.microsoft.com/office/drawing/2014/main" val="1339455027"/>
                    </a:ext>
                  </a:extLst>
                </a:gridCol>
                <a:gridCol w="1774897">
                  <a:extLst>
                    <a:ext uri="{9D8B030D-6E8A-4147-A177-3AD203B41FA5}">
                      <a16:colId xmlns="" xmlns:a16="http://schemas.microsoft.com/office/drawing/2014/main" val="2009039455"/>
                    </a:ext>
                  </a:extLst>
                </a:gridCol>
              </a:tblGrid>
              <a:tr h="645528">
                <a:tc>
                  <a:txBody>
                    <a:bodyPr/>
                    <a:lstStyle/>
                    <a:p>
                      <a:r>
                        <a:rPr lang="en-US" dirty="0">
                          <a:latin typeface="Times New Roman" pitchFamily="18" charset="0"/>
                          <a:cs typeface="Times New Roman" pitchFamily="18" charset="0"/>
                        </a:rPr>
                        <a:t>Sr no</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Journal name and publisher year</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Title</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Technology</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Identify entities</a:t>
                      </a:r>
                      <a:endParaRPr lang="en-IN" dirty="0">
                        <a:latin typeface="Times New Roman" pitchFamily="18" charset="0"/>
                        <a:cs typeface="Times New Roman" pitchFamily="18" charset="0"/>
                      </a:endParaRPr>
                    </a:p>
                  </a:txBody>
                  <a:tcPr/>
                </a:tc>
                <a:extLst>
                  <a:ext uri="{0D108BD9-81ED-4DB2-BD59-A6C34878D82A}">
                    <a16:rowId xmlns="" xmlns:a16="http://schemas.microsoft.com/office/drawing/2014/main" val="3611904154"/>
                  </a:ext>
                </a:extLst>
              </a:tr>
              <a:tr h="737746">
                <a:tc>
                  <a:txBody>
                    <a:bodyPr/>
                    <a:lstStyle/>
                    <a:p>
                      <a:r>
                        <a:rPr lang="en-US" sz="1400" dirty="0">
                          <a:latin typeface="Times New Roman" pitchFamily="18" charset="0"/>
                          <a:cs typeface="Times New Roman" pitchFamily="18" charset="0"/>
                        </a:rPr>
                        <a:t>1</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Proceedings of WILDRE4, 2018</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"Named Entity Recognition for Telugu using LSTM-CRF"</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LSTM-CRF</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Person, Location, Organization</a:t>
                      </a:r>
                      <a:endParaRPr lang="en-IN" sz="1400" dirty="0">
                        <a:latin typeface="Times New Roman" pitchFamily="18" charset="0"/>
                        <a:cs typeface="Times New Roman" pitchFamily="18" charset="0"/>
                      </a:endParaRPr>
                    </a:p>
                  </a:txBody>
                  <a:tcPr/>
                </a:tc>
                <a:extLst>
                  <a:ext uri="{0D108BD9-81ED-4DB2-BD59-A6C34878D82A}">
                    <a16:rowId xmlns="" xmlns:a16="http://schemas.microsoft.com/office/drawing/2014/main" val="2205449130"/>
                  </a:ext>
                </a:extLst>
              </a:tr>
              <a:tr h="977297">
                <a:tc>
                  <a:txBody>
                    <a:bodyPr/>
                    <a:lstStyle/>
                    <a:p>
                      <a:r>
                        <a:rPr lang="en-US" sz="1400" dirty="0">
                          <a:latin typeface="Times New Roman" pitchFamily="18" charset="0"/>
                          <a:cs typeface="Times New Roman" pitchFamily="18" charset="0"/>
                        </a:rPr>
                        <a:t>2</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Proceedings of ACL-SRW, 2022</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“"Leveraging Multi-Domain Named Entity Recognition with </a:t>
                      </a:r>
                      <a:r>
                        <a:rPr lang="en-US" sz="1400" dirty="0" err="1">
                          <a:latin typeface="Times New Roman" pitchFamily="18" charset="0"/>
                          <a:cs typeface="Times New Roman" pitchFamily="18" charset="0"/>
                        </a:rPr>
                        <a:t>Pretrained</a:t>
                      </a:r>
                      <a:r>
                        <a:rPr lang="en-US" sz="1400" dirty="0">
                          <a:latin typeface="Times New Roman" pitchFamily="18" charset="0"/>
                          <a:cs typeface="Times New Roman" pitchFamily="18" charset="0"/>
                        </a:rPr>
                        <a:t> Telugu Language Models"</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BERT-Te, </a:t>
                      </a:r>
                      <a:r>
                        <a:rPr lang="en-US" sz="1400" dirty="0" err="1">
                          <a:latin typeface="Times New Roman" pitchFamily="18" charset="0"/>
                          <a:cs typeface="Times New Roman" pitchFamily="18" charset="0"/>
                        </a:rPr>
                        <a:t>RoBERTa</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Person, Location, Organization</a:t>
                      </a:r>
                    </a:p>
                  </a:txBody>
                  <a:tcPr/>
                </a:tc>
                <a:extLst>
                  <a:ext uri="{0D108BD9-81ED-4DB2-BD59-A6C34878D82A}">
                    <a16:rowId xmlns="" xmlns:a16="http://schemas.microsoft.com/office/drawing/2014/main" val="996341693"/>
                  </a:ext>
                </a:extLst>
              </a:tr>
              <a:tr h="617240">
                <a:tc>
                  <a:txBody>
                    <a:bodyPr/>
                    <a:lstStyle/>
                    <a:p>
                      <a:r>
                        <a:rPr lang="en-IN" sz="1400" dirty="0">
                          <a:latin typeface="Times New Roman" pitchFamily="18" charset="0"/>
                          <a:cs typeface="Times New Roman" pitchFamily="18" charset="0"/>
                        </a:rPr>
                        <a:t>3</a:t>
                      </a:r>
                    </a:p>
                  </a:txBody>
                  <a:tcPr/>
                </a:tc>
                <a:tc>
                  <a:txBody>
                    <a:bodyPr/>
                    <a:lstStyle/>
                    <a:p>
                      <a:r>
                        <a:rPr lang="en-US" sz="1400" dirty="0">
                          <a:latin typeface="Times New Roman" pitchFamily="18" charset="0"/>
                          <a:cs typeface="Times New Roman" pitchFamily="18" charset="0"/>
                        </a:rPr>
                        <a:t>Proceedings of IJCNLP, 2022</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"Telugu Named Entity Recognition Using BERT"</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BERT</a:t>
                      </a:r>
                      <a:endParaRPr lang="en-IN"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Person, Location, Organization</a:t>
                      </a:r>
                      <a:endParaRPr lang="en-IN" sz="1400" dirty="0">
                        <a:latin typeface="Times New Roman" pitchFamily="18" charset="0"/>
                        <a:cs typeface="Times New Roman" pitchFamily="18" charset="0"/>
                      </a:endParaRPr>
                    </a:p>
                  </a:txBody>
                  <a:tcPr/>
                </a:tc>
                <a:extLst>
                  <a:ext uri="{0D108BD9-81ED-4DB2-BD59-A6C34878D82A}">
                    <a16:rowId xmlns="" xmlns:a16="http://schemas.microsoft.com/office/drawing/2014/main" val="10003"/>
                  </a:ext>
                </a:extLst>
              </a:tr>
              <a:tr h="797267">
                <a:tc>
                  <a:txBody>
                    <a:bodyPr/>
                    <a:lstStyle/>
                    <a:p>
                      <a:r>
                        <a:rPr lang="en-IN" sz="1400" dirty="0">
                          <a:latin typeface="Times New Roman" pitchFamily="18" charset="0"/>
                          <a:cs typeface="Times New Roman" pitchFamily="18" charset="0"/>
                        </a:rPr>
                        <a:t>4</a:t>
                      </a:r>
                    </a:p>
                  </a:txBody>
                  <a:tcPr/>
                </a:tc>
                <a:tc>
                  <a:txBody>
                    <a:bodyPr/>
                    <a:lstStyle/>
                    <a:p>
                      <a:r>
                        <a:rPr lang="en-US" sz="1400" dirty="0">
                          <a:latin typeface="Times New Roman" pitchFamily="18" charset="0"/>
                          <a:cs typeface="Times New Roman" pitchFamily="18" charset="0"/>
                        </a:rPr>
                        <a:t>Proceedings of IJCAI, 2023</a:t>
                      </a:r>
                    </a:p>
                  </a:txBody>
                  <a:tcPr anchor="ctr"/>
                </a:tc>
                <a:tc>
                  <a:txBody>
                    <a:bodyPr/>
                    <a:lstStyle/>
                    <a:p>
                      <a:r>
                        <a:rPr lang="en-US" sz="1400" dirty="0">
                          <a:latin typeface="Times New Roman" panose="02020603050405020304" pitchFamily="18" charset="0"/>
                          <a:cs typeface="Times New Roman" panose="02020603050405020304" pitchFamily="18" charset="0"/>
                        </a:rPr>
                        <a:t>"Fine-tuning Pre-trained Named Entity Recognition Models for Telugu"</a:t>
                      </a:r>
                      <a:endParaRPr lang="en-IN" sz="1400" dirty="0">
                        <a:latin typeface="Times New Roman" pitchFamily="18" charset="0"/>
                        <a:cs typeface="Times New Roman"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BERT, </a:t>
                      </a:r>
                      <a:r>
                        <a:rPr lang="en-US" sz="1400" dirty="0" err="1">
                          <a:latin typeface="Times New Roman" panose="02020603050405020304" pitchFamily="18" charset="0"/>
                          <a:cs typeface="Times New Roman" panose="02020603050405020304" pitchFamily="18" charset="0"/>
                        </a:rPr>
                        <a:t>RoBERTa</a:t>
                      </a:r>
                      <a:endParaRPr lang="en-IN" sz="1400" dirty="0">
                        <a:latin typeface="Times New Roman" pitchFamily="18" charset="0"/>
                        <a:cs typeface="Times New Roman"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Person, Location, Organization</a:t>
                      </a:r>
                      <a:endParaRPr lang="en-IN" sz="1400" dirty="0">
                        <a:latin typeface="Times New Roman" pitchFamily="18" charset="0"/>
                        <a:cs typeface="Times New Roman" pitchFamily="18" charset="0"/>
                      </a:endParaRPr>
                    </a:p>
                  </a:txBody>
                  <a:tcPr/>
                </a:tc>
                <a:extLst>
                  <a:ext uri="{0D108BD9-81ED-4DB2-BD59-A6C34878D82A}">
                    <a16:rowId xmlns="" xmlns:a16="http://schemas.microsoft.com/office/drawing/2014/main" val="10004"/>
                  </a:ext>
                </a:extLst>
              </a:tr>
              <a:tr h="1517381">
                <a:tc>
                  <a:txBody>
                    <a:bodyPr/>
                    <a:lstStyle/>
                    <a:p>
                      <a:r>
                        <a:rPr lang="en-IN" sz="1400" dirty="0">
                          <a:latin typeface="Times New Roman" pitchFamily="18" charset="0"/>
                          <a:cs typeface="Times New Roman" pitchFamily="18" charset="0"/>
                        </a:rPr>
                        <a:t>5</a:t>
                      </a:r>
                    </a:p>
                  </a:txBody>
                  <a:tcPr/>
                </a:tc>
                <a:tc>
                  <a:txBody>
                    <a:bodyPr/>
                    <a:lstStyle/>
                    <a:p>
                      <a:r>
                        <a:rPr lang="en-US" sz="1400" dirty="0"/>
                        <a:t>Proceedings of ICML, 2025</a:t>
                      </a:r>
                      <a:endParaRPr lang="en-US" sz="1400" dirty="0">
                        <a:latin typeface="Times New Roman" pitchFamily="18" charset="0"/>
                        <a:cs typeface="Times New Roman" pitchFamily="18" charset="0"/>
                      </a:endParaRPr>
                    </a:p>
                  </a:txBody>
                  <a:tcPr anchor="ctr"/>
                </a:tc>
                <a:tc>
                  <a:txBody>
                    <a:bodyPr/>
                    <a:lstStyle/>
                    <a:p>
                      <a:r>
                        <a:rPr lang="en-US" sz="1400" dirty="0"/>
                        <a:t>"</a:t>
                      </a:r>
                      <a:r>
                        <a:rPr lang="en-US" sz="1400" dirty="0">
                          <a:latin typeface="Times New Roman" panose="02020603050405020304" pitchFamily="18" charset="0"/>
                          <a:cs typeface="Times New Roman" panose="02020603050405020304" pitchFamily="18" charset="0"/>
                        </a:rPr>
                        <a:t>Named Entity Recognition for Telugu and Kannada on </a:t>
                      </a:r>
                      <a:r>
                        <a:rPr lang="en-US" sz="1400" dirty="0" err="1">
                          <a:latin typeface="Times New Roman" panose="02020603050405020304" pitchFamily="18" charset="0"/>
                          <a:cs typeface="Times New Roman" panose="02020603050405020304" pitchFamily="18" charset="0"/>
                        </a:rPr>
                        <a:t>Naamapadam</a:t>
                      </a:r>
                      <a:r>
                        <a:rPr lang="en-US" sz="1400" dirty="0">
                          <a:latin typeface="Times New Roman" panose="02020603050405020304" pitchFamily="18" charset="0"/>
                          <a:cs typeface="Times New Roman" panose="02020603050405020304" pitchFamily="18" charset="0"/>
                        </a:rPr>
                        <a:t> Dataset Using Various Machine Learning and Deep Learning Algorithms"</a:t>
                      </a:r>
                      <a:endParaRPr lang="en-IN" sz="1400" dirty="0">
                        <a:latin typeface="Times New Roman" pitchFamily="18" charset="0"/>
                        <a:cs typeface="Times New Roman"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BERT, CRF, SVM</a:t>
                      </a:r>
                      <a:endParaRPr lang="en-IN" sz="1400" dirty="0">
                        <a:latin typeface="Times New Roman" pitchFamily="18" charset="0"/>
                        <a:cs typeface="Times New Roman"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Person, Location, Organization</a:t>
                      </a:r>
                      <a:endParaRPr lang="en-IN" sz="1400" dirty="0">
                        <a:latin typeface="Times New Roman" pitchFamily="18" charset="0"/>
                        <a:cs typeface="Times New Roman" pitchFamily="18" charset="0"/>
                      </a:endParaRPr>
                    </a:p>
                  </a:txBody>
                  <a:tcPr/>
                </a:tc>
                <a:extLst>
                  <a:ext uri="{0D108BD9-81ED-4DB2-BD59-A6C34878D82A}">
                    <a16:rowId xmlns="" xmlns:a16="http://schemas.microsoft.com/office/drawing/2014/main" val="10005"/>
                  </a:ext>
                </a:extLst>
              </a:tr>
            </a:tbl>
          </a:graphicData>
        </a:graphic>
      </p:graphicFrame>
    </p:spTree>
    <p:extLst>
      <p:ext uri="{BB962C8B-B14F-4D97-AF65-F5344CB8AC3E}">
        <p14:creationId xmlns="" xmlns:p14="http://schemas.microsoft.com/office/powerpoint/2010/main" val="4062151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635" y="609601"/>
            <a:ext cx="8452366" cy="1099930"/>
          </a:xfrm>
        </p:spPr>
        <p:txBody>
          <a:bodyPr>
            <a:normAutofit fontScale="90000"/>
          </a:bodyPr>
          <a:lstStyle/>
          <a:p>
            <a:r>
              <a:rPr lang="en-US" dirty="0"/>
              <a:t>PROBLEM STATEMENT IN EXISTING SYSTEMS</a:t>
            </a:r>
          </a:p>
        </p:txBody>
      </p:sp>
      <p:sp>
        <p:nvSpPr>
          <p:cNvPr id="7" name="Rectangle 4"/>
          <p:cNvSpPr>
            <a:spLocks noGrp="1" noChangeArrowheads="1"/>
          </p:cNvSpPr>
          <p:nvPr>
            <p:ph idx="1"/>
          </p:nvPr>
        </p:nvSpPr>
        <p:spPr bwMode="auto">
          <a:xfrm>
            <a:off x="503583" y="1279154"/>
            <a:ext cx="9090991" cy="47515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200000"/>
              </a:lnSpc>
              <a:spcBef>
                <a:spcPct val="0"/>
              </a:spcBef>
              <a:spcAft>
                <a:spcPct val="0"/>
              </a:spcAft>
              <a:buClrTx/>
              <a:buSzTx/>
              <a:buFont typeface="Wingdings" panose="05000000000000000000" pitchFamily="2" charset="2"/>
              <a:buChar char="Ø"/>
            </a:pPr>
            <a:r>
              <a:rPr lang="en-US" dirty="0">
                <a:latin typeface="Times New Roman" pitchFamily="18" charset="0"/>
                <a:cs typeface="Times New Roman" pitchFamily="18" charset="0"/>
              </a:rPr>
              <a:t>Most existing NER systems focus on high-resource languages like English, where large labeled datasets are available.</a:t>
            </a:r>
          </a:p>
          <a:p>
            <a:pPr lvl="0" defTabSz="914400" eaLnBrk="0" fontAlgn="base" hangingPunct="0">
              <a:lnSpc>
                <a:spcPct val="200000"/>
              </a:lnSpc>
              <a:spcBef>
                <a:spcPct val="0"/>
              </a:spcBef>
              <a:spcAft>
                <a:spcPct val="0"/>
              </a:spcAft>
              <a:buClrTx/>
              <a:buSzTx/>
              <a:buFont typeface="Wingdings" panose="05000000000000000000" pitchFamily="2" charset="2"/>
              <a:buChar char="Ø"/>
            </a:pPr>
            <a:r>
              <a:rPr lang="en-US" dirty="0">
                <a:latin typeface="Times New Roman" pitchFamily="18" charset="0"/>
                <a:cs typeface="Times New Roman" pitchFamily="18" charset="0"/>
              </a:rPr>
              <a:t>For low-resource languages like Telugu, there is a lack of annotated data, which limits the performance of standard NER models.</a:t>
            </a:r>
          </a:p>
          <a:p>
            <a:pPr lvl="0" defTabSz="914400" eaLnBrk="0" fontAlgn="base" hangingPunct="0">
              <a:lnSpc>
                <a:spcPct val="200000"/>
              </a:lnSpc>
              <a:spcBef>
                <a:spcPct val="0"/>
              </a:spcBef>
              <a:spcAft>
                <a:spcPct val="0"/>
              </a:spcAft>
              <a:buClrTx/>
              <a:buSzTx/>
              <a:buFont typeface="Wingdings" panose="05000000000000000000" pitchFamily="2" charset="2"/>
              <a:buChar char="Ø"/>
            </a:pPr>
            <a:r>
              <a:rPr lang="en-US" dirty="0">
                <a:latin typeface="Times New Roman" pitchFamily="18" charset="0"/>
                <a:cs typeface="Times New Roman" pitchFamily="18" charset="0"/>
              </a:rPr>
              <a:t>Existing systems lack explainability, making it difficult to understand model predictions.</a:t>
            </a:r>
            <a:endParaRPr kumimoji="0" lang="en-IN" sz="1800" b="0" i="0" u="none" strike="noStrike" cap="none" normalizeH="0" baseline="0" dirty="0">
              <a:ln>
                <a:noFill/>
              </a:ln>
              <a:solidFill>
                <a:schemeClr val="tx1"/>
              </a:solidFill>
              <a:effectLst/>
              <a:latin typeface="Times New Roman" panose="02020603050405020304" pitchFamily="18" charset="0"/>
              <a:cs typeface="Times New Roman" pitchFamily="18" charset="0"/>
            </a:endParaRPr>
          </a:p>
          <a:p>
            <a:pPr lvl="0" defTabSz="914400" eaLnBrk="0" fontAlgn="base" hangingPunct="0">
              <a:lnSpc>
                <a:spcPct val="20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itchFamily="18" charset="0"/>
              </a:rPr>
              <a:t>Many systems rely solely on supervised learning, requiring extensive manual labeling that is time-consuming and expensive.</a:t>
            </a:r>
          </a:p>
          <a:p>
            <a:pPr lvl="0" defTabSz="914400" eaLnBrk="0" fontAlgn="base" hangingPunct="0">
              <a:lnSpc>
                <a:spcPct val="150000"/>
              </a:lnSpc>
              <a:spcBef>
                <a:spcPct val="0"/>
              </a:spcBef>
              <a:spcAft>
                <a:spcPct val="0"/>
              </a:spcAft>
              <a:buClrTx/>
              <a:buSzTx/>
              <a:buFont typeface="Wingdings" panose="05000000000000000000" pitchFamily="2" charset="2"/>
              <a:buChar char="Ø"/>
            </a:pPr>
            <a:endParaRPr kumimoji="0" lang="en-IN" sz="1800" b="0" i="0" u="none" strike="noStrike" cap="none" normalizeH="0" baseline="0" dirty="0">
              <a:ln>
                <a:noFill/>
              </a:ln>
              <a:solidFill>
                <a:schemeClr val="tx1"/>
              </a:solidFill>
              <a:effectLst/>
              <a:latin typeface="Times New Roman" panose="02020603050405020304" pitchFamily="18" charset="0"/>
              <a:cs typeface="Times New Roman" pitchFamily="18" charset="0"/>
            </a:endParaRPr>
          </a:p>
          <a:p>
            <a:pPr lvl="0" defTabSz="914400" eaLnBrk="0" fontAlgn="base" hangingPunct="0">
              <a:lnSpc>
                <a:spcPct val="150000"/>
              </a:lnSpc>
              <a:spcBef>
                <a:spcPct val="0"/>
              </a:spcBef>
              <a:spcAft>
                <a:spcPct val="0"/>
              </a:spcAft>
              <a:buClrTx/>
              <a:buSzTx/>
              <a:buFont typeface="Wingdings" panose="05000000000000000000" pitchFamily="2" charset="2"/>
              <a:buChar char="Ø"/>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itchFamily="18" charset="0"/>
            </a:endParaRPr>
          </a:p>
        </p:txBody>
      </p:sp>
    </p:spTree>
    <p:extLst>
      <p:ext uri="{BB962C8B-B14F-4D97-AF65-F5344CB8AC3E}">
        <p14:creationId xmlns="" xmlns:p14="http://schemas.microsoft.com/office/powerpoint/2010/main" val="2057917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626" y="796672"/>
            <a:ext cx="6981376" cy="624796"/>
          </a:xfrm>
        </p:spPr>
        <p:txBody>
          <a:bodyPr>
            <a:normAutofit fontScale="90000"/>
          </a:bodyPr>
          <a:lstStyle/>
          <a:p>
            <a:r>
              <a:rPr lang="en-US" dirty="0">
                <a:latin typeface="Times New Roman" panose="02020603050405020304" pitchFamily="18" charset="0"/>
                <a:cs typeface="Times New Roman" panose="02020603050405020304" pitchFamily="18" charset="0"/>
              </a:rPr>
              <a:t>     PROPOSED SYSTEM</a:t>
            </a:r>
          </a:p>
        </p:txBody>
      </p:sp>
      <p:sp>
        <p:nvSpPr>
          <p:cNvPr id="3" name="Content Placeholder 2"/>
          <p:cNvSpPr>
            <a:spLocks noGrp="1"/>
          </p:cNvSpPr>
          <p:nvPr>
            <p:ph idx="1"/>
          </p:nvPr>
        </p:nvSpPr>
        <p:spPr>
          <a:xfrm>
            <a:off x="677334" y="1421468"/>
            <a:ext cx="9457266" cy="5074582"/>
          </a:xfrm>
        </p:spPr>
        <p:txBody>
          <a:bodyPr/>
          <a:lstStyle/>
          <a:p>
            <a:pPr>
              <a:buNone/>
            </a:pPr>
            <a:endParaRPr lang="en-US" dirty="0">
              <a:latin typeface="Times New Roman" pitchFamily="18" charset="0"/>
              <a:cs typeface="Times New Roman" pitchFamily="18" charset="0"/>
            </a:endParaRPr>
          </a:p>
          <a:p>
            <a:endParaRPr lang="en-US" dirty="0"/>
          </a:p>
          <a:p>
            <a:endParaRPr lang="en-US" dirty="0"/>
          </a:p>
        </p:txBody>
      </p:sp>
      <p:sp>
        <p:nvSpPr>
          <p:cNvPr id="4" name="Rectangle 1"/>
          <p:cNvSpPr>
            <a:spLocks noChangeArrowheads="1"/>
          </p:cNvSpPr>
          <p:nvPr/>
        </p:nvSpPr>
        <p:spPr bwMode="auto">
          <a:xfrm>
            <a:off x="1240970" y="498138"/>
            <a:ext cx="7759339" cy="923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dirty="0">
                <a:latin typeface="Arial" panose="020B0604020202020204" pitchFamily="34" charset="0"/>
              </a:rPr>
              <a:t>.</a:t>
            </a:r>
          </a:p>
          <a:p>
            <a:pPr lvl="0" defTabSz="914400" eaLnBrk="0" fontAlgn="base" hangingPunct="0">
              <a:spcBef>
                <a:spcPct val="0"/>
              </a:spcBef>
              <a:spcAft>
                <a:spcPct val="0"/>
              </a:spcAft>
            </a:pPr>
            <a:endParaRPr 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543339" y="1339832"/>
            <a:ext cx="8456970" cy="461305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Annotation:</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small, initial set of data is manually labeled.</a:t>
            </a: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Semi-supervised Learning:</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trained model automatically generates "pseudo-labels" on a much larger, unlabeled dataset.</a:t>
            </a:r>
          </a:p>
          <a:p>
            <a:pPr marL="742950" lvl="1" indent="-285750" defTabSz="914400" eaLnBrk="0" fontAlgn="base" hangingPunct="0">
              <a:lnSpc>
                <a:spcPct val="150000"/>
              </a:lnSpc>
              <a:spcBef>
                <a:spcPct val="0"/>
              </a:spcBef>
              <a:spcAft>
                <a:spcPct val="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Model Training:</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SpaCy</a:t>
            </a:r>
            <a:r>
              <a:rPr lang="en-US" dirty="0">
                <a:latin typeface="Times New Roman" panose="02020603050405020304" pitchFamily="18" charset="0"/>
                <a:cs typeface="Times New Roman" panose="02020603050405020304" pitchFamily="18" charset="0"/>
              </a:rPr>
              <a:t>-based NER model is trained on labeled data.</a:t>
            </a:r>
            <a:endPar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defTabSz="914400" eaLnBrk="0" fontAlgn="base" hangingPunct="0">
              <a:lnSpc>
                <a:spcPct val="150000"/>
              </a:lnSpc>
              <a:spcBef>
                <a:spcPct val="0"/>
              </a:spcBef>
              <a:spcAft>
                <a:spcPct val="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Dataset Refinement:</a:t>
            </a:r>
            <a:r>
              <a:rPr lang="en-US" dirty="0">
                <a:latin typeface="Times New Roman" panose="02020603050405020304" pitchFamily="18" charset="0"/>
                <a:cs typeface="Times New Roman" panose="02020603050405020304" pitchFamily="18" charset="0"/>
              </a:rPr>
              <a:t> Low-quality pseudo-labeled data is filtered to improve data quality.</a:t>
            </a:r>
          </a:p>
          <a:p>
            <a:pPr marL="742950" lvl="1" indent="-285750" defTabSz="914400" eaLnBrk="0" fontAlgn="base" hangingPunct="0">
              <a:lnSpc>
                <a:spcPct val="150000"/>
              </a:lnSpc>
              <a:spcBef>
                <a:spcPct val="0"/>
              </a:spcBef>
              <a:spcAft>
                <a:spcPct val="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Model Retraining:</a:t>
            </a:r>
            <a:r>
              <a:rPr lang="en-US" dirty="0">
                <a:latin typeface="Times New Roman" panose="02020603050405020304" pitchFamily="18" charset="0"/>
                <a:cs typeface="Times New Roman" panose="02020603050405020304" pitchFamily="18" charset="0"/>
              </a:rPr>
              <a:t> The model is retrained using the refined dataset to enhance performance.</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defTabSz="914400" eaLnBrk="0" fontAlgn="base" hangingPunct="0">
              <a:lnSpc>
                <a:spcPct val="150000"/>
              </a:lnSpc>
              <a:spcBef>
                <a:spcPct val="0"/>
              </a:spcBef>
              <a:spcAft>
                <a:spcPct val="0"/>
              </a:spcAft>
              <a:buFont typeface="Wingdings" panose="05000000000000000000" pitchFamily="2" charset="2"/>
              <a:buChar char="Ø"/>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 (XAI):</a:t>
            </a:r>
            <a:r>
              <a:rPr lang="en-US" dirty="0">
                <a:latin typeface="Times New Roman" panose="02020603050405020304" pitchFamily="18" charset="0"/>
                <a:cs typeface="Times New Roman" panose="02020603050405020304" pitchFamily="18" charset="0"/>
              </a:rPr>
              <a:t>LIME is integrated to provide transparency in model predictions.</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41620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1"/>
            <a:ext cx="8596668" cy="720436"/>
          </a:xfrm>
        </p:spPr>
        <p:txBody>
          <a:bodyPr>
            <a:normAutofit fontScale="90000"/>
          </a:bodyPr>
          <a:lstStyle/>
          <a:p>
            <a:r>
              <a:rPr lang="en-US" dirty="0">
                <a:latin typeface="Times New Roman" panose="02020603050405020304" pitchFamily="18" charset="0"/>
                <a:cs typeface="Times New Roman" panose="02020603050405020304" pitchFamily="18" charset="0"/>
              </a:rPr>
              <a:t>PROJECT OBJECTIVE</a:t>
            </a:r>
            <a:r>
              <a:rPr lang="en-US" dirty="0"/>
              <a:t/>
            </a:r>
            <a:br>
              <a:rPr lang="en-US" dirty="0"/>
            </a:br>
            <a:endParaRPr lang="en-US" dirty="0"/>
          </a:p>
        </p:txBody>
      </p:sp>
      <p:sp>
        <p:nvSpPr>
          <p:cNvPr id="4" name="Rectangle 1"/>
          <p:cNvSpPr>
            <a:spLocks noGrp="1" noChangeArrowheads="1"/>
          </p:cNvSpPr>
          <p:nvPr>
            <p:ph idx="1"/>
          </p:nvPr>
        </p:nvSpPr>
        <p:spPr bwMode="auto">
          <a:xfrm>
            <a:off x="342549" y="1477354"/>
            <a:ext cx="9266238" cy="317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dirty="0">
                <a:latin typeface="Times New Roman" panose="02020603050405020304" pitchFamily="18" charset="0"/>
                <a:cs typeface="Times New Roman" pitchFamily="18" charset="0"/>
              </a:rPr>
              <a:t>To develop a Named Entity Recognition (NER) system for the Telugu language</a:t>
            </a:r>
          </a:p>
          <a:p>
            <a:pPr>
              <a:lnSpc>
                <a:spcPct val="150000"/>
              </a:lnSpc>
            </a:pPr>
            <a:r>
              <a:rPr lang="en-US" dirty="0">
                <a:latin typeface="Times New Roman" panose="02020603050405020304" pitchFamily="18" charset="0"/>
                <a:cs typeface="Times New Roman" pitchFamily="18" charset="0"/>
              </a:rPr>
              <a:t>To improve NER performance in low-resource settings by using Semi-Supervised Learning.</a:t>
            </a:r>
          </a:p>
          <a:p>
            <a:pPr>
              <a:lnSpc>
                <a:spcPct val="150000"/>
              </a:lnSpc>
            </a:pPr>
            <a:r>
              <a:rPr lang="en-US" dirty="0">
                <a:latin typeface="Times New Roman" panose="02020603050405020304" pitchFamily="18" charset="0"/>
                <a:cs typeface="Times New Roman" pitchFamily="18" charset="0"/>
              </a:rPr>
              <a:t>To enhance model accuracy using pseudo-labeling, dataset refinement, and retraining.</a:t>
            </a:r>
          </a:p>
          <a:p>
            <a:pPr>
              <a:lnSpc>
                <a:spcPct val="150000"/>
              </a:lnSpc>
            </a:pPr>
            <a:r>
              <a:rPr lang="en-US" dirty="0">
                <a:latin typeface="Times New Roman" panose="02020603050405020304" pitchFamily="18" charset="0"/>
                <a:cs typeface="Times New Roman" pitchFamily="18" charset="0"/>
              </a:rPr>
              <a:t>To provide explainability using LIME for better understanding of predictions.</a:t>
            </a:r>
          </a:p>
          <a:p>
            <a:pPr>
              <a:lnSpc>
                <a:spcPct val="150000"/>
              </a:lnSpc>
            </a:pPr>
            <a:r>
              <a:rPr lang="en-US" dirty="0">
                <a:latin typeface="Times New Roman" panose="02020603050405020304" pitchFamily="18" charset="0"/>
                <a:cs typeface="Times New Roman" pitchFamily="18" charset="0"/>
              </a:rPr>
              <a:t>To build a user-friendly system using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for real-time text analysis.</a:t>
            </a:r>
          </a:p>
          <a:p>
            <a:pPr>
              <a:lnSpc>
                <a:spcPct val="150000"/>
              </a:lnSpc>
            </a:pPr>
            <a:r>
              <a:rPr lang="en-US" dirty="0">
                <a:latin typeface="Times New Roman" panose="02020603050405020304" pitchFamily="18" charset="0"/>
                <a:cs typeface="Times New Roman" panose="02020603050405020304" pitchFamily="18" charset="0"/>
              </a:rPr>
              <a:t>To accurately identify entities such as Person, Location, and Organization.</a:t>
            </a:r>
          </a:p>
        </p:txBody>
      </p:sp>
    </p:spTree>
    <p:extLst>
      <p:ext uri="{BB962C8B-B14F-4D97-AF65-F5344CB8AC3E}">
        <p14:creationId xmlns="" xmlns:p14="http://schemas.microsoft.com/office/powerpoint/2010/main" val="222193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DOMAIN</a:t>
            </a:r>
          </a:p>
        </p:txBody>
      </p:sp>
      <p:sp>
        <p:nvSpPr>
          <p:cNvPr id="4" name="Rectangle 1"/>
          <p:cNvSpPr>
            <a:spLocks noGrp="1" noChangeArrowheads="1"/>
          </p:cNvSpPr>
          <p:nvPr>
            <p:ph idx="1"/>
          </p:nvPr>
        </p:nvSpPr>
        <p:spPr bwMode="auto">
          <a:xfrm>
            <a:off x="799254" y="1509562"/>
            <a:ext cx="7518707" cy="28587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lvl="0" indent="0" defTabSz="914400" eaLnBrk="0" fontAlgn="base" hangingPunct="0">
              <a:lnSpc>
                <a:spcPct val="150000"/>
              </a:lnSpc>
              <a:spcBef>
                <a:spcPct val="0"/>
              </a:spcBef>
              <a:spcAft>
                <a:spcPct val="0"/>
              </a:spcAft>
              <a:buClrTx/>
              <a:buSzTx/>
              <a:buNone/>
            </a:pPr>
            <a:r>
              <a:rPr lang="en-US" dirty="0">
                <a:latin typeface="Times New Roman" panose="02020603050405020304" pitchFamily="18" charset="0"/>
                <a:cs typeface="Times New Roman" panose="02020603050405020304" pitchFamily="18" charset="0"/>
              </a:rPr>
              <a:t>• Natural Language Processing (NLP)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Machine Learning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Semi-supervised Learning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Explainable AI (XAI)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Web Application Development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Data Visualization</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477113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REQUIREMENT ANALYSIS</a:t>
            </a:r>
            <a:r>
              <a:rPr lang="en-US" dirty="0"/>
              <a:t/>
            </a:r>
            <a:br>
              <a:rPr lang="en-US" dirty="0"/>
            </a:br>
            <a:r>
              <a:rPr lang="en-US" dirty="0"/>
              <a:t/>
            </a:r>
            <a:br>
              <a:rPr lang="en-US" dirty="0"/>
            </a:br>
            <a:endParaRPr lang="en-US" dirty="0"/>
          </a:p>
        </p:txBody>
      </p:sp>
      <p:sp>
        <p:nvSpPr>
          <p:cNvPr id="4" name="Rectangle 1"/>
          <p:cNvSpPr>
            <a:spLocks noGrp="1" noChangeArrowheads="1"/>
          </p:cNvSpPr>
          <p:nvPr>
            <p:ph idx="1"/>
          </p:nvPr>
        </p:nvSpPr>
        <p:spPr bwMode="auto">
          <a:xfrm>
            <a:off x="677334" y="1184671"/>
            <a:ext cx="7998489" cy="52901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Functional Requirements</a:t>
            </a:r>
          </a:p>
          <a:p>
            <a:pPr>
              <a:lnSpc>
                <a:spcPct val="150000"/>
              </a:lnSpc>
            </a:pPr>
            <a:r>
              <a:rPr lang="en-US" dirty="0">
                <a:latin typeface="Times New Roman" panose="02020603050405020304" pitchFamily="18" charset="0"/>
                <a:cs typeface="Times New Roman" panose="02020603050405020304" pitchFamily="18" charset="0"/>
              </a:rPr>
              <a:t> The system should accept Telugu text as input and process it for entity recognition.</a:t>
            </a:r>
          </a:p>
          <a:p>
            <a:pPr>
              <a:lnSpc>
                <a:spcPct val="150000"/>
              </a:lnSpc>
            </a:pPr>
            <a:r>
              <a:rPr lang="en-US" dirty="0">
                <a:latin typeface="Times New Roman" panose="02020603050405020304" pitchFamily="18" charset="0"/>
                <a:cs typeface="Times New Roman" panose="02020603050405020304" pitchFamily="18" charset="0"/>
              </a:rPr>
              <a:t> The system should identify and classify entities such as Person, Location, Organization, and Miscellaneous.</a:t>
            </a:r>
          </a:p>
          <a:p>
            <a:pPr>
              <a:lnSpc>
                <a:spcPct val="150000"/>
              </a:lnSpc>
            </a:pPr>
            <a:r>
              <a:rPr lang="en-US" dirty="0">
                <a:latin typeface="Times New Roman" panose="02020603050405020304" pitchFamily="18" charset="0"/>
                <a:cs typeface="Times New Roman" panose="02020603050405020304" pitchFamily="18" charset="0"/>
              </a:rPr>
              <a:t> The system should support semi-supervised learning by using both labeled and unlabeled data.</a:t>
            </a:r>
          </a:p>
          <a:p>
            <a:pPr>
              <a:lnSpc>
                <a:spcPct val="150000"/>
              </a:lnSpc>
            </a:pPr>
            <a:r>
              <a:rPr lang="en-US" dirty="0">
                <a:latin typeface="Times New Roman" panose="02020603050405020304" pitchFamily="18" charset="0"/>
                <a:cs typeface="Times New Roman" panose="02020603050405020304" pitchFamily="18" charset="0"/>
              </a:rPr>
              <a:t> The system should generate pseudo-labels to improve model performance.</a:t>
            </a:r>
          </a:p>
          <a:p>
            <a:pPr>
              <a:lnSpc>
                <a:spcPct val="150000"/>
              </a:lnSpc>
            </a:pPr>
            <a:r>
              <a:rPr lang="en-US" dirty="0">
                <a:latin typeface="Times New Roman" panose="02020603050405020304" pitchFamily="18" charset="0"/>
                <a:cs typeface="Times New Roman" panose="02020603050405020304" pitchFamily="18" charset="0"/>
              </a:rPr>
              <a:t>The system should provide explainability using LIME to interpret model predictions. </a:t>
            </a:r>
          </a:p>
          <a:p>
            <a:pPr>
              <a:lnSpc>
                <a:spcPct val="150000"/>
              </a:lnSpc>
            </a:pPr>
            <a:r>
              <a:rPr lang="en-US" dirty="0">
                <a:latin typeface="Times New Roman" panose="02020603050405020304" pitchFamily="18" charset="0"/>
                <a:cs typeface="Times New Roman" panose="02020603050405020304" pitchFamily="18" charset="0"/>
              </a:rPr>
              <a:t>The system should allow users to interact through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-based web interface.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504706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775852"/>
            <a:ext cx="8596668" cy="735314"/>
          </a:xfrm>
        </p:spPr>
        <p:txBody>
          <a:bodyPr>
            <a:normAutofit/>
          </a:bodyPr>
          <a:lstStyle/>
          <a:p>
            <a:r>
              <a:rPr lang="en-US" dirty="0">
                <a:latin typeface="Times New Roman" panose="02020603050405020304" pitchFamily="18" charset="0"/>
                <a:cs typeface="Times New Roman" panose="02020603050405020304" pitchFamily="18" charset="0"/>
              </a:rPr>
              <a:t>REQUIREMENT ANALYSIS</a:t>
            </a:r>
          </a:p>
        </p:txBody>
      </p:sp>
      <p:sp>
        <p:nvSpPr>
          <p:cNvPr id="4" name="Rectangle 1"/>
          <p:cNvSpPr>
            <a:spLocks noGrp="1" noChangeArrowheads="1"/>
          </p:cNvSpPr>
          <p:nvPr>
            <p:ph idx="1"/>
          </p:nvPr>
        </p:nvSpPr>
        <p:spPr bwMode="auto">
          <a:xfrm>
            <a:off x="810684" y="2115125"/>
            <a:ext cx="7743787" cy="2956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b="1" i="0" u="none" strike="noStrike" cap="none" normalizeH="0" baseline="0" dirty="0">
                <a:ln>
                  <a:noFill/>
                </a:ln>
                <a:solidFill>
                  <a:srgbClr val="1B1C1D"/>
                </a:solidFill>
                <a:effectLst/>
                <a:latin typeface="Times New Roman" pitchFamily="18" charset="0"/>
                <a:cs typeface="Times New Roman" pitchFamily="18" charset="0"/>
              </a:rPr>
              <a:t>Non-Functional Requirements</a:t>
            </a:r>
          </a:p>
          <a:p>
            <a:pPr>
              <a:lnSpc>
                <a:spcPct val="150000"/>
              </a:lnSpc>
            </a:pPr>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The system should be scalable to handle large amounts of text data.</a:t>
            </a:r>
          </a:p>
          <a:p>
            <a:pPr>
              <a:lnSpc>
                <a:spcPct val="150000"/>
              </a:lnSpc>
            </a:pPr>
            <a:r>
              <a:rPr lang="en-US" b="1" dirty="0">
                <a:latin typeface="Times New Roman" panose="02020603050405020304" pitchFamily="18" charset="0"/>
                <a:cs typeface="Times New Roman" panose="02020603050405020304" pitchFamily="18" charset="0"/>
              </a:rPr>
              <a:t>Usability:</a:t>
            </a:r>
            <a:r>
              <a:rPr lang="en-US" dirty="0">
                <a:latin typeface="Times New Roman" panose="02020603050405020304" pitchFamily="18" charset="0"/>
                <a:cs typeface="Times New Roman" panose="02020603050405020304" pitchFamily="18" charset="0"/>
              </a:rPr>
              <a:t> The system should be user-friendly and easy to navigate.</a:t>
            </a:r>
          </a:p>
          <a:p>
            <a:pPr>
              <a:lnSpc>
                <a:spcPct val="150000"/>
              </a:lnSpc>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The system should provide fast response time during inference.</a:t>
            </a:r>
          </a:p>
          <a:p>
            <a:pPr>
              <a:lnSpc>
                <a:spcPct val="150000"/>
              </a:lnSpc>
            </a:pPr>
            <a:r>
              <a:rPr lang="en-US" b="1" dirty="0">
                <a:latin typeface="Times New Roman" panose="02020603050405020304" pitchFamily="18" charset="0"/>
                <a:cs typeface="Times New Roman" panose="02020603050405020304" pitchFamily="18" charset="0"/>
              </a:rPr>
              <a:t>Reliability:</a:t>
            </a:r>
            <a:r>
              <a:rPr lang="en-US" dirty="0">
                <a:latin typeface="Times New Roman" panose="02020603050405020304" pitchFamily="18" charset="0"/>
                <a:cs typeface="Times New Roman" panose="02020603050405020304" pitchFamily="18" charset="0"/>
              </a:rPr>
              <a:t> The system should provide accurate and consistent results.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b="0" i="0" u="none" strike="noStrike" cap="none" normalizeH="0" baseline="0" dirty="0">
              <a:ln>
                <a:noFill/>
              </a:ln>
              <a:solidFill>
                <a:schemeClr val="tx1"/>
              </a:solidFill>
              <a:effectLst/>
              <a:latin typeface="Times New Roman" panose="02020603050405020304" pitchFamily="18" charset="0"/>
              <a:cs typeface="Times New Roman" pitchFamily="18" charset="0"/>
            </a:endParaRPr>
          </a:p>
        </p:txBody>
      </p:sp>
    </p:spTree>
    <p:extLst>
      <p:ext uri="{BB962C8B-B14F-4D97-AF65-F5344CB8AC3E}">
        <p14:creationId xmlns="" xmlns:p14="http://schemas.microsoft.com/office/powerpoint/2010/main" val="59136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9745"/>
          </a:xfrm>
        </p:spPr>
        <p:txBody>
          <a:bodyPr/>
          <a:lstStyle/>
          <a:p>
            <a:r>
              <a:rPr lang="en-US" dirty="0">
                <a:latin typeface="Times New Roman" pitchFamily="18" charset="0"/>
                <a:cs typeface="Times New Roman" pitchFamily="18" charset="0"/>
              </a:rPr>
              <a:t>REQUIREMENT</a:t>
            </a:r>
            <a:r>
              <a:rPr lang="en-US" dirty="0"/>
              <a:t> ANALYSIS</a:t>
            </a:r>
          </a:p>
        </p:txBody>
      </p:sp>
      <p:sp>
        <p:nvSpPr>
          <p:cNvPr id="5" name="Rectangle 2"/>
          <p:cNvSpPr>
            <a:spLocks noGrp="1" noChangeArrowheads="1"/>
          </p:cNvSpPr>
          <p:nvPr>
            <p:ph idx="1"/>
          </p:nvPr>
        </p:nvSpPr>
        <p:spPr bwMode="auto">
          <a:xfrm>
            <a:off x="677334" y="1459345"/>
            <a:ext cx="8129470" cy="19389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rgbClr val="1B1C1D"/>
                </a:solidFill>
                <a:effectLst/>
                <a:latin typeface="Google Sans Text"/>
              </a:rPr>
              <a:t>Software Requirements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rgbClr val="1B1C1D"/>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Google Sans Text"/>
              </a:rPr>
              <a:t>Python 3.8:</a:t>
            </a:r>
            <a:r>
              <a:rPr kumimoji="0" lang="en-US" b="0" i="0" u="none" strike="noStrike" cap="none" normalizeH="0" baseline="0" dirty="0">
                <a:ln>
                  <a:noFill/>
                </a:ln>
                <a:solidFill>
                  <a:srgbClr val="1B1C1D"/>
                </a:solidFill>
                <a:effectLst/>
                <a:latin typeface="Google Sans Text"/>
              </a:rPr>
              <a:t> This is the required programming language version for the project.</a:t>
            </a:r>
          </a:p>
          <a:p>
            <a:pPr marL="0" marR="0" lvl="0" indent="0" algn="l" defTabSz="914400" rtl="0" eaLnBrk="0" fontAlgn="base" latinLnBrk="0" hangingPunct="0">
              <a:lnSpc>
                <a:spcPct val="100000"/>
              </a:lnSpc>
              <a:spcBef>
                <a:spcPct val="0"/>
              </a:spcBef>
              <a:spcAft>
                <a:spcPct val="0"/>
              </a:spcAft>
              <a:buClrTx/>
              <a:buSzTx/>
              <a:buFontTx/>
              <a:buChar char="•"/>
              <a:tabLst/>
            </a:pPr>
            <a:endParaRPr lang="en-IN" dirty="0">
              <a:solidFill>
                <a:srgbClr val="1B1C1D"/>
              </a:solidFill>
              <a:latin typeface="Google Sans Text"/>
            </a:endParaRPr>
          </a:p>
          <a:p>
            <a:pPr marL="0" lvl="0" indent="0" defTabSz="914400" eaLnBrk="0" fontAlgn="base" hangingPunct="0">
              <a:spcBef>
                <a:spcPct val="0"/>
              </a:spcBef>
              <a:spcAft>
                <a:spcPct val="0"/>
              </a:spcAft>
              <a:buClrTx/>
              <a:buSzTx/>
              <a:buFontTx/>
              <a:buChar char="•"/>
            </a:pPr>
            <a:r>
              <a:rPr lang="en-US" b="1" dirty="0">
                <a:latin typeface="Times New Roman" pitchFamily="18" charset="0"/>
                <a:cs typeface="Times New Roman" pitchFamily="18" charset="0"/>
              </a:rPr>
              <a:t>Operating System </a:t>
            </a:r>
            <a:r>
              <a:rPr lang="en-US" dirty="0">
                <a:latin typeface="Times New Roman" pitchFamily="18" charset="0"/>
                <a:cs typeface="Times New Roman" pitchFamily="18" charset="0"/>
              </a:rPr>
              <a:t>: Windows 7 onwards</a:t>
            </a:r>
            <a:endParaRPr lang="en-US" dirty="0">
              <a:solidFill>
                <a:srgbClr val="1B1C1D"/>
              </a:solidFill>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Google Sans Text"/>
            </a:endParaRPr>
          </a:p>
        </p:txBody>
      </p:sp>
      <p:sp>
        <p:nvSpPr>
          <p:cNvPr id="6" name="Rectangle 3"/>
          <p:cNvSpPr>
            <a:spLocks noChangeArrowheads="1"/>
          </p:cNvSpPr>
          <p:nvPr/>
        </p:nvSpPr>
        <p:spPr bwMode="auto">
          <a:xfrm>
            <a:off x="677334" y="3282491"/>
            <a:ext cx="6883295" cy="22159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Hardware Requirements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Processor:</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Intel Core i3 or equivalent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RAM:</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Minimum 4GB (8GB recommended for better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Hard Disk:</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Minimum 256GB (SSD recommended for faster data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370178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958" y="486795"/>
            <a:ext cx="8596668" cy="3912485"/>
          </a:xfrm>
        </p:spPr>
        <p:txBody>
          <a:bodyPr>
            <a:normAutofit/>
          </a:bodyPr>
          <a:lstStyle/>
          <a:p>
            <a:r>
              <a:rPr lang="en-US" dirty="0"/>
              <a:t>ARCHITECTURE</a:t>
            </a:r>
          </a:p>
        </p:txBody>
      </p:sp>
      <p:pic>
        <p:nvPicPr>
          <p:cNvPr id="10244" name="Picture 4" descr="C:\Users\dell\AppData\Local\Packages\5319275A.WhatsAppDesktop_cv1g1gvanyjgm\LocalState\sessions\C98298869FC3BEF0CC72422BBB483248957F45EB\transfers\2026-13\Telugu NER system architecture diagram.png"/>
          <p:cNvPicPr>
            <a:picLocks noChangeAspect="1" noChangeArrowheads="1"/>
          </p:cNvPicPr>
          <p:nvPr/>
        </p:nvPicPr>
        <p:blipFill>
          <a:blip r:embed="rId2"/>
          <a:srcRect/>
          <a:stretch>
            <a:fillRect/>
          </a:stretch>
        </p:blipFill>
        <p:spPr bwMode="auto">
          <a:xfrm>
            <a:off x="331932" y="1139825"/>
            <a:ext cx="10190017" cy="5353739"/>
          </a:xfrm>
          <a:prstGeom prst="rect">
            <a:avLst/>
          </a:prstGeom>
          <a:noFill/>
        </p:spPr>
      </p:pic>
    </p:spTree>
    <p:extLst>
      <p:ext uri="{BB962C8B-B14F-4D97-AF65-F5344CB8AC3E}">
        <p14:creationId xmlns="" xmlns:p14="http://schemas.microsoft.com/office/powerpoint/2010/main" val="2017903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69818"/>
          </a:xfrm>
        </p:spPr>
        <p:txBody>
          <a:bodyPr/>
          <a:lstStyle/>
          <a:p>
            <a:r>
              <a:rPr lang="en-US" dirty="0">
                <a:latin typeface="Times New Roman" pitchFamily="18" charset="0"/>
                <a:cs typeface="Times New Roman" pitchFamily="18" charset="0"/>
              </a:rPr>
              <a:t>METHODOLOGY</a:t>
            </a:r>
          </a:p>
        </p:txBody>
      </p:sp>
      <p:sp>
        <p:nvSpPr>
          <p:cNvPr id="3" name="Content Placeholder 2"/>
          <p:cNvSpPr>
            <a:spLocks noGrp="1"/>
          </p:cNvSpPr>
          <p:nvPr>
            <p:ph idx="1"/>
          </p:nvPr>
        </p:nvSpPr>
        <p:spPr>
          <a:xfrm>
            <a:off x="505884" y="1236518"/>
            <a:ext cx="8596668" cy="4461944"/>
          </a:xfrm>
        </p:spPr>
        <p:txBody>
          <a:bodyPr>
            <a:noAutofit/>
          </a:bodyPr>
          <a:lstStyle/>
          <a:p>
            <a:pPr>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Developing NER for Telugu:</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We build a Named Entity Recognition system for Telugu, a low-resource language.</a:t>
            </a:r>
          </a:p>
          <a:p>
            <a:pPr>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Hybrid Approach:</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We combine manual annotation and semi-supervised learning to improve accuracy.</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Manual Annotation: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small dataset is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with entities like Person, Location, Organization, and Miscellaneous.</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Model Training:</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a:t>
            </a:r>
            <a:r>
              <a:rPr lang="en-IN" dirty="0" err="1">
                <a:latin typeface="Times New Roman" panose="02020603050405020304" pitchFamily="18" charset="0"/>
                <a:cs typeface="Times New Roman" panose="02020603050405020304" pitchFamily="18" charset="0"/>
              </a:rPr>
              <a:t>spaCy</a:t>
            </a:r>
            <a:r>
              <a:rPr lang="en-IN" dirty="0">
                <a:latin typeface="Times New Roman" panose="02020603050405020304" pitchFamily="18" charset="0"/>
                <a:cs typeface="Times New Roman" panose="02020603050405020304" pitchFamily="18" charset="0"/>
              </a:rPr>
              <a:t>-based model is trained on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a:t>
            </a:r>
          </a:p>
        </p:txBody>
      </p:sp>
      <p:sp>
        <p:nvSpPr>
          <p:cNvPr id="5" name="Rectangle 2"/>
          <p:cNvSpPr>
            <a:spLocks noChangeArrowheads="1"/>
          </p:cNvSpPr>
          <p:nvPr/>
        </p:nvSpPr>
        <p:spPr bwMode="auto">
          <a:xfrm>
            <a:off x="479380" y="1531342"/>
            <a:ext cx="9400116" cy="41052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200066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5617" y="967409"/>
            <a:ext cx="8839200" cy="544405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Pseudo-</a:t>
            </a:r>
            <a:r>
              <a:rPr lang="en-IN" b="1" dirty="0" err="1">
                <a:latin typeface="Times New Roman" panose="02020603050405020304" pitchFamily="18" charset="0"/>
                <a:cs typeface="Times New Roman" panose="02020603050405020304" pitchFamily="18" charset="0"/>
              </a:rPr>
              <a:t>Labeling</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trained model generates labels for large </a:t>
            </a:r>
            <a:r>
              <a:rPr lang="en-IN" dirty="0" err="1">
                <a:latin typeface="Times New Roman" panose="02020603050405020304" pitchFamily="18" charset="0"/>
                <a:cs typeface="Times New Roman" panose="02020603050405020304" pitchFamily="18" charset="0"/>
              </a:rPr>
              <a:t>unlabeled</a:t>
            </a:r>
            <a:r>
              <a:rPr lang="en-IN" dirty="0">
                <a:latin typeface="Times New Roman" panose="02020603050405020304" pitchFamily="18" charset="0"/>
                <a:cs typeface="Times New Roman" panose="02020603050405020304" pitchFamily="18" charset="0"/>
              </a:rPr>
              <a:t> data.</a:t>
            </a:r>
            <a:endParaRPr lang="en-IN"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Dataset Refinement: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Low-quality pseudo-</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 is filtered to improve data quality.</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Model Retraining:</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model is retrained using both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and refined pseudo-</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Explainable AI (LIME):</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LIME is used to explain model predictions.</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Result: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system becomes accurate, efficient, and user-friendly for Telugu text </a:t>
            </a:r>
            <a:r>
              <a:rPr lang="en-IN" dirty="0" err="1">
                <a:latin typeface="Times New Roman" panose="02020603050405020304" pitchFamily="18" charset="0"/>
                <a:cs typeface="Times New Roman" panose="02020603050405020304" pitchFamily="18" charset="0"/>
              </a:rPr>
              <a:t>analysi</a:t>
            </a: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4888" y="636103"/>
            <a:ext cx="4903304" cy="646331"/>
          </a:xfrm>
          <a:prstGeom prst="rect">
            <a:avLst/>
          </a:prstGeom>
          <a:noFill/>
        </p:spPr>
        <p:txBody>
          <a:bodyPr wrap="square" rtlCol="0">
            <a:spAutoFit/>
          </a:bodyPr>
          <a:lstStyle/>
          <a:p>
            <a:r>
              <a:rPr lang="en-IN" sz="3600" b="1" dirty="0">
                <a:solidFill>
                  <a:schemeClr val="accent2">
                    <a:lumMod val="60000"/>
                    <a:lumOff val="40000"/>
                  </a:schemeClr>
                </a:solidFill>
                <a:latin typeface="Times New Roman" pitchFamily="18" charset="0"/>
                <a:cs typeface="Times New Roman" pitchFamily="18" charset="0"/>
              </a:rPr>
              <a:t>Implementation</a:t>
            </a:r>
            <a:endParaRPr lang="en-US" sz="3600" b="1" dirty="0">
              <a:solidFill>
                <a:schemeClr val="accent2">
                  <a:lumMod val="60000"/>
                  <a:lumOff val="40000"/>
                </a:schemeClr>
              </a:solidFill>
              <a:latin typeface="Times New Roman" pitchFamily="18" charset="0"/>
              <a:cs typeface="Times New Roman" pitchFamily="18" charset="0"/>
            </a:endParaRPr>
          </a:p>
        </p:txBody>
      </p:sp>
      <p:sp>
        <p:nvSpPr>
          <p:cNvPr id="3" name="TextBox 2"/>
          <p:cNvSpPr txBox="1"/>
          <p:nvPr/>
        </p:nvSpPr>
        <p:spPr>
          <a:xfrm>
            <a:off x="675861" y="1722783"/>
            <a:ext cx="9024730" cy="5576976"/>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 Train the model using </a:t>
            </a:r>
            <a:r>
              <a:rPr lang="en-IN" sz="2000" dirty="0" err="1">
                <a:latin typeface="Times New Roman" panose="02020603050405020304" pitchFamily="18" charset="0"/>
                <a:cs typeface="Times New Roman" panose="02020603050405020304" pitchFamily="18" charset="0"/>
              </a:rPr>
              <a:t>labeled</a:t>
            </a:r>
            <a:r>
              <a:rPr lang="en-IN" sz="2000" dirty="0">
                <a:latin typeface="Times New Roman" panose="02020603050405020304" pitchFamily="18" charset="0"/>
                <a:cs typeface="Times New Roman" panose="02020603050405020304" pitchFamily="18" charset="0"/>
              </a:rPr>
              <a:t> Telugu 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Generate pseudo-labels from </a:t>
            </a:r>
            <a:r>
              <a:rPr lang="en-IN" sz="2000" dirty="0" err="1">
                <a:latin typeface="Times New Roman" panose="02020603050405020304" pitchFamily="18" charset="0"/>
                <a:cs typeface="Times New Roman" panose="02020603050405020304" pitchFamily="18" charset="0"/>
              </a:rPr>
              <a:t>unlabeled</a:t>
            </a:r>
            <a:r>
              <a:rPr lang="en-IN" sz="2000" dirty="0">
                <a:latin typeface="Times New Roman" panose="02020603050405020304" pitchFamily="18" charset="0"/>
                <a:cs typeface="Times New Roman" panose="02020603050405020304" pitchFamily="18" charset="0"/>
              </a:rPr>
              <a:t> 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Remove low-quality 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Retrain the model with improved 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Deploy the model using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User enters Telugu text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System identifies entities (PER, LOC, ORG, MISC)</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Explainability results using LIME and visualizations are displayed.</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6.Explainability results with visualization are displayed.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9357" y="424070"/>
            <a:ext cx="8295860" cy="646331"/>
          </a:xfrm>
          <a:prstGeom prst="rect">
            <a:avLst/>
          </a:prstGeom>
          <a:noFill/>
        </p:spPr>
        <p:txBody>
          <a:bodyPr wrap="square" rtlCol="0">
            <a:spAutoFit/>
          </a:bodyPr>
          <a:lstStyle/>
          <a:p>
            <a:r>
              <a:rPr lang="en-IN" sz="3600" b="1" dirty="0">
                <a:solidFill>
                  <a:schemeClr val="accent2">
                    <a:lumMod val="40000"/>
                    <a:lumOff val="60000"/>
                  </a:schemeClr>
                </a:solidFill>
              </a:rPr>
              <a:t>Result Analysis</a:t>
            </a:r>
            <a:endParaRPr lang="en-US" sz="3600" b="1" dirty="0">
              <a:solidFill>
                <a:schemeClr val="accent2">
                  <a:lumMod val="40000"/>
                  <a:lumOff val="60000"/>
                </a:schemeClr>
              </a:solidFill>
            </a:endParaRPr>
          </a:p>
        </p:txBody>
      </p:sp>
      <p:pic>
        <p:nvPicPr>
          <p:cNvPr id="1026" name="Picture 2"/>
          <p:cNvPicPr>
            <a:picLocks noChangeAspect="1" noChangeArrowheads="1"/>
          </p:cNvPicPr>
          <p:nvPr/>
        </p:nvPicPr>
        <p:blipFill>
          <a:blip r:embed="rId2"/>
          <a:srcRect/>
          <a:stretch>
            <a:fillRect/>
          </a:stretch>
        </p:blipFill>
        <p:spPr bwMode="auto">
          <a:xfrm>
            <a:off x="404100" y="1710428"/>
            <a:ext cx="5701632" cy="3404911"/>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6212255" y="1749288"/>
            <a:ext cx="5761292" cy="3339548"/>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64332" y="1383267"/>
            <a:ext cx="5311157" cy="410313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121630" y="1391478"/>
            <a:ext cx="5486653" cy="4041913"/>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5619" y="636104"/>
            <a:ext cx="8295861" cy="646331"/>
          </a:xfrm>
          <a:prstGeom prst="rect">
            <a:avLst/>
          </a:prstGeom>
          <a:noFill/>
        </p:spPr>
        <p:txBody>
          <a:bodyPr wrap="square" rtlCol="0">
            <a:spAutoFit/>
          </a:bodyPr>
          <a:lstStyle/>
          <a:p>
            <a:r>
              <a:rPr lang="en-IN" sz="3600" b="1" dirty="0">
                <a:solidFill>
                  <a:schemeClr val="accent2">
                    <a:lumMod val="40000"/>
                    <a:lumOff val="60000"/>
                  </a:schemeClr>
                </a:solidFill>
                <a:latin typeface="Times New Roman" pitchFamily="18" charset="0"/>
                <a:cs typeface="Times New Roman" pitchFamily="18" charset="0"/>
              </a:rPr>
              <a:t>Conclusion</a:t>
            </a:r>
            <a:endParaRPr lang="en-US" sz="3600" b="1" dirty="0">
              <a:solidFill>
                <a:schemeClr val="accent2">
                  <a:lumMod val="40000"/>
                  <a:lumOff val="60000"/>
                </a:schemeClr>
              </a:solidFill>
              <a:latin typeface="Times New Roman" pitchFamily="18" charset="0"/>
              <a:cs typeface="Times New Roman" pitchFamily="18" charset="0"/>
            </a:endParaRPr>
          </a:p>
        </p:txBody>
      </p:sp>
      <p:sp>
        <p:nvSpPr>
          <p:cNvPr id="4" name="TextBox 3"/>
          <p:cNvSpPr txBox="1"/>
          <p:nvPr/>
        </p:nvSpPr>
        <p:spPr>
          <a:xfrm>
            <a:off x="649357" y="1961322"/>
            <a:ext cx="8931965" cy="3000821"/>
          </a:xfrm>
          <a:prstGeom prst="rect">
            <a:avLst/>
          </a:prstGeom>
          <a:noFill/>
        </p:spPr>
        <p:txBody>
          <a:bodyPr wrap="square" rtlCol="0">
            <a:spAutoFit/>
          </a:bodyPr>
          <a:lstStyle/>
          <a:p>
            <a:pPr>
              <a:lnSpc>
                <a:spcPct val="150000"/>
              </a:lnSpc>
            </a:pPr>
            <a:r>
              <a:rPr lang="en-US" dirty="0">
                <a:latin typeface="Times New Roman" pitchFamily="18" charset="0"/>
                <a:cs typeface="Times New Roman" pitchFamily="18" charset="0"/>
              </a:rPr>
              <a:t>The project successfully develops a </a:t>
            </a:r>
            <a:r>
              <a:rPr lang="en-US" dirty="0" err="1">
                <a:latin typeface="Times New Roman" pitchFamily="18" charset="0"/>
                <a:cs typeface="Times New Roman" pitchFamily="18" charset="0"/>
              </a:rPr>
              <a:t>SpaCy</a:t>
            </a:r>
            <a:r>
              <a:rPr lang="en-US" dirty="0">
                <a:latin typeface="Times New Roman" pitchFamily="18" charset="0"/>
                <a:cs typeface="Times New Roman" pitchFamily="18" charset="0"/>
              </a:rPr>
              <a:t>-based NER system for low-resource Telugu text. By using semi-supervised learning, the model improves accuracy by learning from both labeled and unlabeled data. The integration of explainable learning  makes predictions transparent and interpretable. The system can accurately identify entities like Person, Organization, Location, and Date, providing a reliable and user-friendly solution for Telugu text processing. This work contributes to advancing NLP for low-resource languages and demonstrates that effective, interpretable NER systems can be built without pretrained models.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8869" y="583096"/>
            <a:ext cx="9250017" cy="1200329"/>
          </a:xfrm>
          <a:prstGeom prst="rect">
            <a:avLst/>
          </a:prstGeom>
          <a:noFill/>
        </p:spPr>
        <p:txBody>
          <a:bodyPr wrap="square" rtlCol="0">
            <a:spAutoFit/>
          </a:bodyPr>
          <a:lstStyle/>
          <a:p>
            <a:r>
              <a:rPr lang="en-IN" sz="3600" b="1" dirty="0">
                <a:solidFill>
                  <a:schemeClr val="accent2">
                    <a:lumMod val="40000"/>
                    <a:lumOff val="60000"/>
                  </a:schemeClr>
                </a:solidFill>
                <a:latin typeface="Times New Roman" pitchFamily="18" charset="0"/>
                <a:cs typeface="Times New Roman" pitchFamily="18" charset="0"/>
              </a:rPr>
              <a:t>Future Scope</a:t>
            </a:r>
          </a:p>
          <a:p>
            <a:endParaRPr lang="en-US" sz="3600" b="1" dirty="0">
              <a:solidFill>
                <a:schemeClr val="accent2">
                  <a:lumMod val="40000"/>
                  <a:lumOff val="60000"/>
                </a:schemeClr>
              </a:solidFill>
              <a:latin typeface="Times New Roman" pitchFamily="18" charset="0"/>
              <a:cs typeface="Times New Roman" pitchFamily="18" charset="0"/>
            </a:endParaRPr>
          </a:p>
        </p:txBody>
      </p:sp>
      <p:sp>
        <p:nvSpPr>
          <p:cNvPr id="3" name="TextBox 2"/>
          <p:cNvSpPr txBox="1"/>
          <p:nvPr/>
        </p:nvSpPr>
        <p:spPr>
          <a:xfrm>
            <a:off x="596348" y="1762538"/>
            <a:ext cx="8931965" cy="3782061"/>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 Add </a:t>
            </a:r>
            <a:r>
              <a:rPr lang="en-US" b="1" dirty="0">
                <a:latin typeface="Times New Roman" panose="02020603050405020304" pitchFamily="18" charset="0"/>
                <a:cs typeface="Times New Roman" panose="02020603050405020304" pitchFamily="18" charset="0"/>
              </a:rPr>
              <a:t>fine-grained entity types</a:t>
            </a:r>
            <a:r>
              <a:rPr lang="en-US" dirty="0">
                <a:latin typeface="Times New Roman" panose="02020603050405020304" pitchFamily="18" charset="0"/>
                <a:cs typeface="Times New Roman" panose="02020603050405020304" pitchFamily="18" charset="0"/>
              </a:rPr>
              <a:t> such as events, products, and numerical expressions</a:t>
            </a:r>
          </a:p>
          <a:p>
            <a:pPr>
              <a:lnSpc>
                <a:spcPct val="150000"/>
              </a:lnSpc>
            </a:pPr>
            <a:r>
              <a:rPr lang="en-US" dirty="0">
                <a:latin typeface="Times New Roman" panose="02020603050405020304" pitchFamily="18" charset="0"/>
                <a:cs typeface="Times New Roman" panose="02020603050405020304" pitchFamily="18" charset="0"/>
              </a:rPr>
              <a:t>• Incorporate </a:t>
            </a:r>
            <a:r>
              <a:rPr lang="en-US" b="1" dirty="0">
                <a:latin typeface="Times New Roman" panose="02020603050405020304" pitchFamily="18" charset="0"/>
                <a:cs typeface="Times New Roman" panose="02020603050405020304" pitchFamily="18" charset="0"/>
              </a:rPr>
              <a:t>cross-lingual learning</a:t>
            </a:r>
            <a:r>
              <a:rPr lang="en-US" dirty="0">
                <a:latin typeface="Times New Roman" panose="02020603050405020304" pitchFamily="18" charset="0"/>
                <a:cs typeface="Times New Roman" panose="02020603050405020304" pitchFamily="18" charset="0"/>
              </a:rPr>
              <a:t> to improve performance using related languages</a:t>
            </a:r>
          </a:p>
          <a:p>
            <a:pPr>
              <a:lnSpc>
                <a:spcPct val="150000"/>
              </a:lnSpc>
            </a:pPr>
            <a:r>
              <a:rPr lang="en-US" dirty="0">
                <a:latin typeface="Times New Roman" panose="02020603050405020304" pitchFamily="18" charset="0"/>
                <a:cs typeface="Times New Roman" panose="02020603050405020304" pitchFamily="18" charset="0"/>
              </a:rPr>
              <a:t>• Enhance explainability using advanced methods like </a:t>
            </a:r>
            <a:r>
              <a:rPr lang="en-US" b="1" dirty="0">
                <a:latin typeface="Times New Roman" panose="02020603050405020304" pitchFamily="18" charset="0"/>
                <a:cs typeface="Times New Roman" panose="02020603050405020304" pitchFamily="18" charset="0"/>
              </a:rPr>
              <a:t>SHAP</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Develop real-time applications such as </a:t>
            </a:r>
            <a:r>
              <a:rPr lang="en-US" b="1" dirty="0">
                <a:latin typeface="Times New Roman" panose="02020603050405020304" pitchFamily="18" charset="0"/>
                <a:cs typeface="Times New Roman" panose="02020603050405020304" pitchFamily="18" charset="0"/>
              </a:rPr>
              <a:t>chatbots, virtual assistants, and information extraction systems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Extend the system to support </a:t>
            </a:r>
            <a:r>
              <a:rPr lang="en-US" b="1" dirty="0">
                <a:latin typeface="Times New Roman" panose="02020603050405020304" pitchFamily="18" charset="0"/>
                <a:cs typeface="Times New Roman" panose="02020603050405020304" pitchFamily="18" charset="0"/>
              </a:rPr>
              <a:t>multiple low-resource Indian languages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Build more </a:t>
            </a:r>
            <a:r>
              <a:rPr lang="en-US" b="1" dirty="0">
                <a:latin typeface="Times New Roman" panose="02020603050405020304" pitchFamily="18" charset="0"/>
                <a:cs typeface="Times New Roman" panose="02020603050405020304" pitchFamily="18" charset="0"/>
              </a:rPr>
              <a:t>accurate, interpretable, and scalable NER systems</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PLAN</a:t>
            </a:r>
          </a:p>
        </p:txBody>
      </p:sp>
      <p:sp>
        <p:nvSpPr>
          <p:cNvPr id="3" name="Content Placeholder 2"/>
          <p:cNvSpPr>
            <a:spLocks noGrp="1"/>
          </p:cNvSpPr>
          <p:nvPr>
            <p:ph idx="1"/>
          </p:nvPr>
        </p:nvSpPr>
        <p:spPr>
          <a:xfrm>
            <a:off x="1354668" y="4694239"/>
            <a:ext cx="8596668" cy="3880773"/>
          </a:xfrm>
        </p:spPr>
        <p:txBody>
          <a:bodyPr/>
          <a:lstStyle/>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Rectangle 1"/>
          <p:cNvSpPr>
            <a:spLocks noChangeArrowheads="1"/>
          </p:cNvSpPr>
          <p:nvPr/>
        </p:nvSpPr>
        <p:spPr bwMode="auto">
          <a:xfrm>
            <a:off x="677334" y="1524856"/>
            <a:ext cx="4718599" cy="38779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Project Timeline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Project Selection and Proposal Writing:</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1 week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Requirement Analysis and Gathering:</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2 weeks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Designing:</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1 week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Web Interface Designing:</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3 weeks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Backend Coding:</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3 weeks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Deployment:</a:t>
            </a:r>
            <a:r>
              <a:rPr kumimoji="0" lang="en-US" b="0" i="0" u="none" strike="noStrike" cap="none" normalizeH="0" baseline="0" dirty="0">
                <a:ln>
                  <a:noFill/>
                </a:ln>
                <a:solidFill>
                  <a:srgbClr val="1B1C1D"/>
                </a:solidFill>
                <a:effectLst/>
                <a:latin typeface="Times New Roman" panose="02020603050405020304" pitchFamily="18" charset="0"/>
                <a:cs typeface="Times New Roman" panose="02020603050405020304" pitchFamily="18" charset="0"/>
              </a:rPr>
              <a:t> 1 week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1751951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55637" y="2890983"/>
            <a:ext cx="4913745" cy="1015663"/>
          </a:xfrm>
          <a:prstGeom prst="rect">
            <a:avLst/>
          </a:prstGeom>
          <a:noFill/>
        </p:spPr>
        <p:txBody>
          <a:bodyPr wrap="square" rtlCol="0">
            <a:spAutoFit/>
          </a:bodyPr>
          <a:lstStyle/>
          <a:p>
            <a:r>
              <a:rPr lang="en-US" sz="6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 xmlns:p14="http://schemas.microsoft.com/office/powerpoint/2010/main" val="172314983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2052</TotalTime>
  <Words>1108</Words>
  <Application>Microsoft Office PowerPoint</Application>
  <PresentationFormat>Custom</PresentationFormat>
  <Paragraphs>178</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Facet</vt:lpstr>
      <vt:lpstr>Slide 1</vt:lpstr>
      <vt:lpstr>Slide 2</vt:lpstr>
      <vt:lpstr> OUTLINE</vt:lpstr>
      <vt:lpstr>ABSTRACT</vt:lpstr>
      <vt:lpstr>   INTRODUCTION</vt:lpstr>
      <vt:lpstr>LITERATURE SURVEY</vt:lpstr>
      <vt:lpstr>PROBLEM STATEMENT IN EXISTING SYSTEMS</vt:lpstr>
      <vt:lpstr>     PROPOSED SYSTEM</vt:lpstr>
      <vt:lpstr>PROJECT OBJECTIVE </vt:lpstr>
      <vt:lpstr>PROJECT DOMAIN</vt:lpstr>
      <vt:lpstr>REQUIREMENT ANALYSIS  </vt:lpstr>
      <vt:lpstr>REQUIREMENT ANALYSIS</vt:lpstr>
      <vt:lpstr>REQUIREMENT ANALYSIS</vt:lpstr>
      <vt:lpstr>ARCHITECTURE</vt:lpstr>
      <vt:lpstr>METHODOLOGY</vt:lpstr>
      <vt:lpstr>Slide 16</vt:lpstr>
      <vt:lpstr>Slide 17</vt:lpstr>
      <vt:lpstr>Slide 18</vt:lpstr>
      <vt:lpstr>Slide 19</vt:lpstr>
      <vt:lpstr>Slide 20</vt:lpstr>
      <vt:lpstr>Slide 21</vt:lpstr>
      <vt:lpstr>PROJECT PLAN</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136</cp:revision>
  <dcterms:created xsi:type="dcterms:W3CDTF">2024-08-11T05:12:38Z</dcterms:created>
  <dcterms:modified xsi:type="dcterms:W3CDTF">2026-03-31T06:46:32Z</dcterms:modified>
</cp:coreProperties>
</file>